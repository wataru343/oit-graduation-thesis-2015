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59" r:id="rId5"/>
    <p:sldId id="260" r:id="rId6"/>
    <p:sldId id="261" r:id="rId7"/>
    <p:sldId id="262" r:id="rId8"/>
    <p:sldId id="263" r:id="rId9"/>
    <p:sldId id="264" r:id="rId10"/>
    <p:sldId id="266" r:id="rId11"/>
    <p:sldId id="268" r:id="rId12"/>
    <p:sldId id="269" r:id="rId13"/>
    <p:sldId id="271" r:id="rId14"/>
    <p:sldId id="270" r:id="rId15"/>
    <p:sldId id="273" r:id="rId16"/>
    <p:sldId id="272" r:id="rId17"/>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1296" y="-2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oleObject" Target="file:///C:\Users\jzemi\Desktop\Book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3588919412994516"/>
          <c:y val="6.9102500816294002E-2"/>
          <c:w val="0.74418795465131804"/>
          <c:h val="0.6662740019339688"/>
        </c:manualLayout>
      </c:layout>
      <c:lineChart>
        <c:grouping val="standard"/>
        <c:varyColors val="0"/>
        <c:ser>
          <c:idx val="0"/>
          <c:order val="0"/>
          <c:tx>
            <c:strRef>
              <c:f>[Book1.xlsx]Sheet2!$B$1</c:f>
              <c:strCache>
                <c:ptCount val="1"/>
                <c:pt idx="0">
                  <c:v>CPU</c:v>
                </c:pt>
              </c:strCache>
            </c:strRef>
          </c:tx>
          <c:spPr>
            <a:ln>
              <a:prstDash val="sysDash"/>
            </a:ln>
          </c:spPr>
          <c:marker>
            <c:symbol val="none"/>
          </c:marker>
          <c:cat>
            <c:numRef>
              <c:f>[Book1.xlsx]Sheet2!$A$2:$A$17</c:f>
              <c:numCache>
                <c:formatCode>General</c:formatCode>
                <c:ptCount val="16"/>
                <c:pt idx="0">
                  <c:v>32</c:v>
                </c:pt>
                <c:pt idx="1">
                  <c:v>64</c:v>
                </c:pt>
                <c:pt idx="2">
                  <c:v>128</c:v>
                </c:pt>
                <c:pt idx="3">
                  <c:v>256</c:v>
                </c:pt>
                <c:pt idx="4">
                  <c:v>512</c:v>
                </c:pt>
                <c:pt idx="5">
                  <c:v>1024</c:v>
                </c:pt>
                <c:pt idx="6">
                  <c:v>2048</c:v>
                </c:pt>
                <c:pt idx="7">
                  <c:v>4096</c:v>
                </c:pt>
                <c:pt idx="8">
                  <c:v>8192</c:v>
                </c:pt>
                <c:pt idx="9">
                  <c:v>16384</c:v>
                </c:pt>
                <c:pt idx="10">
                  <c:v>32768</c:v>
                </c:pt>
                <c:pt idx="11">
                  <c:v>65536</c:v>
                </c:pt>
                <c:pt idx="12">
                  <c:v>131072</c:v>
                </c:pt>
                <c:pt idx="13">
                  <c:v>262144</c:v>
                </c:pt>
                <c:pt idx="14">
                  <c:v>524288</c:v>
                </c:pt>
                <c:pt idx="15">
                  <c:v>1048576</c:v>
                </c:pt>
              </c:numCache>
            </c:numRef>
          </c:cat>
          <c:val>
            <c:numRef>
              <c:f>[Book1.xlsx]Sheet2!$B$2:$B$17</c:f>
              <c:numCache>
                <c:formatCode>General</c:formatCode>
                <c:ptCount val="16"/>
                <c:pt idx="0">
                  <c:v>4</c:v>
                </c:pt>
                <c:pt idx="1">
                  <c:v>4</c:v>
                </c:pt>
                <c:pt idx="2">
                  <c:v>4</c:v>
                </c:pt>
                <c:pt idx="3">
                  <c:v>4</c:v>
                </c:pt>
                <c:pt idx="4">
                  <c:v>5</c:v>
                </c:pt>
                <c:pt idx="5">
                  <c:v>8</c:v>
                </c:pt>
                <c:pt idx="6">
                  <c:v>18</c:v>
                </c:pt>
                <c:pt idx="7">
                  <c:v>50</c:v>
                </c:pt>
                <c:pt idx="8">
                  <c:v>190</c:v>
                </c:pt>
                <c:pt idx="9">
                  <c:v>750</c:v>
                </c:pt>
                <c:pt idx="10">
                  <c:v>3100</c:v>
                </c:pt>
                <c:pt idx="11">
                  <c:v>13000</c:v>
                </c:pt>
                <c:pt idx="12">
                  <c:v>72000</c:v>
                </c:pt>
                <c:pt idx="13">
                  <c:v>300000</c:v>
                </c:pt>
                <c:pt idx="14">
                  <c:v>1280000</c:v>
                </c:pt>
                <c:pt idx="15">
                  <c:v>4954573</c:v>
                </c:pt>
              </c:numCache>
            </c:numRef>
          </c:val>
          <c:smooth val="0"/>
        </c:ser>
        <c:ser>
          <c:idx val="1"/>
          <c:order val="1"/>
          <c:tx>
            <c:strRef>
              <c:f>[Book1.xlsx]Sheet2!$C$1</c:f>
              <c:strCache>
                <c:ptCount val="1"/>
                <c:pt idx="0">
                  <c:v>GPU</c:v>
                </c:pt>
              </c:strCache>
            </c:strRef>
          </c:tx>
          <c:marker>
            <c:symbol val="none"/>
          </c:marker>
          <c:cat>
            <c:numRef>
              <c:f>[Book1.xlsx]Sheet2!$A$2:$A$17</c:f>
              <c:numCache>
                <c:formatCode>General</c:formatCode>
                <c:ptCount val="16"/>
                <c:pt idx="0">
                  <c:v>32</c:v>
                </c:pt>
                <c:pt idx="1">
                  <c:v>64</c:v>
                </c:pt>
                <c:pt idx="2">
                  <c:v>128</c:v>
                </c:pt>
                <c:pt idx="3">
                  <c:v>256</c:v>
                </c:pt>
                <c:pt idx="4">
                  <c:v>512</c:v>
                </c:pt>
                <c:pt idx="5">
                  <c:v>1024</c:v>
                </c:pt>
                <c:pt idx="6">
                  <c:v>2048</c:v>
                </c:pt>
                <c:pt idx="7">
                  <c:v>4096</c:v>
                </c:pt>
                <c:pt idx="8">
                  <c:v>8192</c:v>
                </c:pt>
                <c:pt idx="9">
                  <c:v>16384</c:v>
                </c:pt>
                <c:pt idx="10">
                  <c:v>32768</c:v>
                </c:pt>
                <c:pt idx="11">
                  <c:v>65536</c:v>
                </c:pt>
                <c:pt idx="12">
                  <c:v>131072</c:v>
                </c:pt>
                <c:pt idx="13">
                  <c:v>262144</c:v>
                </c:pt>
                <c:pt idx="14">
                  <c:v>524288</c:v>
                </c:pt>
                <c:pt idx="15">
                  <c:v>1048576</c:v>
                </c:pt>
              </c:numCache>
            </c:numRef>
          </c:cat>
          <c:val>
            <c:numRef>
              <c:f>[Book1.xlsx]Sheet2!$C$2:$C$17</c:f>
              <c:numCache>
                <c:formatCode>General</c:formatCode>
                <c:ptCount val="16"/>
                <c:pt idx="0">
                  <c:v>1</c:v>
                </c:pt>
                <c:pt idx="1">
                  <c:v>1</c:v>
                </c:pt>
                <c:pt idx="2">
                  <c:v>1</c:v>
                </c:pt>
                <c:pt idx="3">
                  <c:v>1</c:v>
                </c:pt>
                <c:pt idx="4">
                  <c:v>1</c:v>
                </c:pt>
                <c:pt idx="5">
                  <c:v>1</c:v>
                </c:pt>
                <c:pt idx="6">
                  <c:v>1</c:v>
                </c:pt>
                <c:pt idx="7">
                  <c:v>2</c:v>
                </c:pt>
                <c:pt idx="8">
                  <c:v>4</c:v>
                </c:pt>
                <c:pt idx="9">
                  <c:v>8</c:v>
                </c:pt>
                <c:pt idx="10">
                  <c:v>18</c:v>
                </c:pt>
                <c:pt idx="11">
                  <c:v>59</c:v>
                </c:pt>
                <c:pt idx="12">
                  <c:v>230</c:v>
                </c:pt>
                <c:pt idx="13">
                  <c:v>860</c:v>
                </c:pt>
                <c:pt idx="14">
                  <c:v>3350</c:v>
                </c:pt>
                <c:pt idx="15">
                  <c:v>13380</c:v>
                </c:pt>
              </c:numCache>
            </c:numRef>
          </c:val>
          <c:smooth val="0"/>
        </c:ser>
        <c:dLbls>
          <c:showLegendKey val="0"/>
          <c:showVal val="0"/>
          <c:showCatName val="0"/>
          <c:showSerName val="0"/>
          <c:showPercent val="0"/>
          <c:showBubbleSize val="0"/>
        </c:dLbls>
        <c:marker val="1"/>
        <c:smooth val="0"/>
        <c:axId val="361766272"/>
        <c:axId val="361912192"/>
      </c:lineChart>
      <c:catAx>
        <c:axId val="361766272"/>
        <c:scaling>
          <c:orientation val="minMax"/>
        </c:scaling>
        <c:delete val="0"/>
        <c:axPos val="b"/>
        <c:title>
          <c:tx>
            <c:rich>
              <a:bodyPr/>
              <a:lstStyle/>
              <a:p>
                <a:pPr>
                  <a:defRPr sz="1600"/>
                </a:pPr>
                <a:r>
                  <a:rPr lang="ja-JP" altLang="en-US" sz="1600" b="0"/>
                  <a:t>粒子数</a:t>
                </a:r>
                <a:r>
                  <a:rPr lang="en-US" altLang="ja-JP" sz="1600" b="0"/>
                  <a:t>N</a:t>
                </a:r>
                <a:endParaRPr lang="ja-JP" altLang="en-US" sz="1600" b="0"/>
              </a:p>
            </c:rich>
          </c:tx>
          <c:layout/>
          <c:overlay val="0"/>
        </c:title>
        <c:numFmt formatCode="General" sourceLinked="0"/>
        <c:majorTickMark val="in"/>
        <c:minorTickMark val="none"/>
        <c:tickLblPos val="nextTo"/>
        <c:spPr>
          <a:ln>
            <a:solidFill>
              <a:schemeClr val="tx1"/>
            </a:solidFill>
          </a:ln>
        </c:spPr>
        <c:txPr>
          <a:bodyPr/>
          <a:lstStyle/>
          <a:p>
            <a:pPr>
              <a:defRPr sz="1600"/>
            </a:pPr>
            <a:endParaRPr lang="ja-JP"/>
          </a:p>
        </c:txPr>
        <c:crossAx val="361912192"/>
        <c:crosses val="autoZero"/>
        <c:auto val="1"/>
        <c:lblAlgn val="ctr"/>
        <c:lblOffset val="100"/>
        <c:noMultiLvlLbl val="0"/>
      </c:catAx>
      <c:valAx>
        <c:axId val="361912192"/>
        <c:scaling>
          <c:logBase val="10"/>
          <c:orientation val="minMax"/>
        </c:scaling>
        <c:delete val="0"/>
        <c:axPos val="l"/>
        <c:majorGridlines/>
        <c:title>
          <c:tx>
            <c:rich>
              <a:bodyPr rot="-5400000" vert="horz" anchor="t" anchorCtr="1"/>
              <a:lstStyle/>
              <a:p>
                <a:pPr>
                  <a:defRPr sz="1600"/>
                </a:pPr>
                <a:r>
                  <a:rPr lang="ja-JP" altLang="en-US" sz="1600" b="0"/>
                  <a:t>処理時間</a:t>
                </a:r>
                <a:r>
                  <a:rPr lang="en-US" altLang="ja-JP" sz="1600" b="0"/>
                  <a:t>(ms)</a:t>
                </a:r>
                <a:endParaRPr lang="ja-JP" altLang="en-US" sz="1600" b="0"/>
              </a:p>
            </c:rich>
          </c:tx>
          <c:layout/>
          <c:overlay val="0"/>
        </c:title>
        <c:numFmt formatCode="0.E+00" sourceLinked="0"/>
        <c:majorTickMark val="in"/>
        <c:minorTickMark val="none"/>
        <c:tickLblPos val="nextTo"/>
        <c:spPr>
          <a:ln>
            <a:solidFill>
              <a:schemeClr val="tx1"/>
            </a:solidFill>
          </a:ln>
        </c:spPr>
        <c:txPr>
          <a:bodyPr/>
          <a:lstStyle/>
          <a:p>
            <a:pPr>
              <a:defRPr sz="1600"/>
            </a:pPr>
            <a:endParaRPr lang="ja-JP"/>
          </a:p>
        </c:txPr>
        <c:crossAx val="361766272"/>
        <c:crosses val="autoZero"/>
        <c:crossBetween val="between"/>
      </c:valAx>
      <c:spPr>
        <a:ln>
          <a:solidFill>
            <a:schemeClr val="tx1"/>
          </a:solidFill>
        </a:ln>
      </c:spPr>
    </c:plotArea>
    <c:legend>
      <c:legendPos val="r"/>
      <c:layout>
        <c:manualLayout>
          <c:xMode val="edge"/>
          <c:yMode val="edge"/>
          <c:x val="0.87890234418397961"/>
          <c:y val="0.11470798132447468"/>
          <c:w val="0.11855640767583558"/>
          <c:h val="0.31575885655125968"/>
        </c:manualLayout>
      </c:layout>
      <c:overlay val="0"/>
      <c:txPr>
        <a:bodyPr/>
        <a:lstStyle/>
        <a:p>
          <a:pPr>
            <a:defRPr sz="1600"/>
          </a:pPr>
          <a:endParaRPr lang="ja-JP"/>
        </a:p>
      </c:txPr>
    </c:legend>
    <c:plotVisOnly val="1"/>
    <c:dispBlanksAs val="gap"/>
    <c:showDLblsOverMax val="0"/>
  </c:chart>
  <c:spPr>
    <a:ln>
      <a:noFill/>
    </a:ln>
  </c:sp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67116C18-F878-4327-B464-2F419FACD676}" type="datetimeFigureOut">
              <a:rPr kumimoji="1" lang="ja-JP" altLang="en-US" smtClean="0"/>
              <a:t>2016/2/5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7C93055-99B1-4486-B4CD-83A360585CAB}" type="slidenum">
              <a:rPr kumimoji="1" lang="ja-JP" altLang="en-US" smtClean="0"/>
              <a:t>‹#›</a:t>
            </a:fld>
            <a:endParaRPr kumimoji="1" lang="ja-JP" altLang="en-US"/>
          </a:p>
        </p:txBody>
      </p:sp>
    </p:spTree>
    <p:extLst>
      <p:ext uri="{BB962C8B-B14F-4D97-AF65-F5344CB8AC3E}">
        <p14:creationId xmlns:p14="http://schemas.microsoft.com/office/powerpoint/2010/main" val="365639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7116C18-F878-4327-B464-2F419FACD676}" type="datetimeFigureOut">
              <a:rPr kumimoji="1" lang="ja-JP" altLang="en-US" smtClean="0"/>
              <a:t>2016/2/5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7C93055-99B1-4486-B4CD-83A360585CAB}" type="slidenum">
              <a:rPr kumimoji="1" lang="ja-JP" altLang="en-US" smtClean="0"/>
              <a:t>‹#›</a:t>
            </a:fld>
            <a:endParaRPr kumimoji="1" lang="ja-JP" altLang="en-US"/>
          </a:p>
        </p:txBody>
      </p:sp>
    </p:spTree>
    <p:extLst>
      <p:ext uri="{BB962C8B-B14F-4D97-AF65-F5344CB8AC3E}">
        <p14:creationId xmlns:p14="http://schemas.microsoft.com/office/powerpoint/2010/main" val="48591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67116C18-F878-4327-B464-2F419FACD676}" type="datetimeFigureOut">
              <a:rPr kumimoji="1" lang="ja-JP" altLang="en-US" smtClean="0"/>
              <a:t>2016/2/5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7C93055-99B1-4486-B4CD-83A360585CAB}" type="slidenum">
              <a:rPr kumimoji="1" lang="ja-JP" altLang="en-US" smtClean="0"/>
              <a:t>‹#›</a:t>
            </a:fld>
            <a:endParaRPr kumimoji="1" lang="ja-JP" altLang="en-US"/>
          </a:p>
        </p:txBody>
      </p:sp>
    </p:spTree>
    <p:extLst>
      <p:ext uri="{BB962C8B-B14F-4D97-AF65-F5344CB8AC3E}">
        <p14:creationId xmlns:p14="http://schemas.microsoft.com/office/powerpoint/2010/main" val="926054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67116C18-F878-4327-B464-2F419FACD676}" type="datetimeFigureOut">
              <a:rPr kumimoji="1" lang="ja-JP" altLang="en-US" smtClean="0"/>
              <a:t>2016/2/5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7C93055-99B1-4486-B4CD-83A360585CAB}" type="slidenum">
              <a:rPr kumimoji="1" lang="ja-JP" altLang="en-US" smtClean="0"/>
              <a:t>‹#›</a:t>
            </a:fld>
            <a:endParaRPr kumimoji="1" lang="ja-JP" altLang="en-US"/>
          </a:p>
        </p:txBody>
      </p:sp>
    </p:spTree>
    <p:extLst>
      <p:ext uri="{BB962C8B-B14F-4D97-AF65-F5344CB8AC3E}">
        <p14:creationId xmlns:p14="http://schemas.microsoft.com/office/powerpoint/2010/main" val="4096393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67116C18-F878-4327-B464-2F419FACD676}" type="datetimeFigureOut">
              <a:rPr kumimoji="1" lang="ja-JP" altLang="en-US" smtClean="0"/>
              <a:t>2016/2/5</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07C93055-99B1-4486-B4CD-83A360585CAB}" type="slidenum">
              <a:rPr kumimoji="1" lang="ja-JP" altLang="en-US" smtClean="0"/>
              <a:t>‹#›</a:t>
            </a:fld>
            <a:endParaRPr kumimoji="1" lang="ja-JP" altLang="en-US"/>
          </a:p>
        </p:txBody>
      </p:sp>
    </p:spTree>
    <p:extLst>
      <p:ext uri="{BB962C8B-B14F-4D97-AF65-F5344CB8AC3E}">
        <p14:creationId xmlns:p14="http://schemas.microsoft.com/office/powerpoint/2010/main" val="978368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67116C18-F878-4327-B464-2F419FACD676}" type="datetimeFigureOut">
              <a:rPr kumimoji="1" lang="ja-JP" altLang="en-US" smtClean="0"/>
              <a:t>2016/2/5</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07C93055-99B1-4486-B4CD-83A360585CAB}" type="slidenum">
              <a:rPr kumimoji="1" lang="ja-JP" altLang="en-US" smtClean="0"/>
              <a:t>‹#›</a:t>
            </a:fld>
            <a:endParaRPr kumimoji="1" lang="ja-JP" altLang="en-US"/>
          </a:p>
        </p:txBody>
      </p:sp>
    </p:spTree>
    <p:extLst>
      <p:ext uri="{BB962C8B-B14F-4D97-AF65-F5344CB8AC3E}">
        <p14:creationId xmlns:p14="http://schemas.microsoft.com/office/powerpoint/2010/main" val="1636018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67116C18-F878-4327-B464-2F419FACD676}" type="datetimeFigureOut">
              <a:rPr kumimoji="1" lang="ja-JP" altLang="en-US" smtClean="0"/>
              <a:t>2016/2/5</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07C93055-99B1-4486-B4CD-83A360585CAB}" type="slidenum">
              <a:rPr kumimoji="1" lang="ja-JP" altLang="en-US" smtClean="0"/>
              <a:t>‹#›</a:t>
            </a:fld>
            <a:endParaRPr kumimoji="1" lang="ja-JP" altLang="en-US"/>
          </a:p>
        </p:txBody>
      </p:sp>
    </p:spTree>
    <p:extLst>
      <p:ext uri="{BB962C8B-B14F-4D97-AF65-F5344CB8AC3E}">
        <p14:creationId xmlns:p14="http://schemas.microsoft.com/office/powerpoint/2010/main" val="1689623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67116C18-F878-4327-B464-2F419FACD676}" type="datetimeFigureOut">
              <a:rPr kumimoji="1" lang="ja-JP" altLang="en-US" smtClean="0"/>
              <a:t>2016/2/5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7C93055-99B1-4486-B4CD-83A360585CAB}" type="slidenum">
              <a:rPr kumimoji="1" lang="ja-JP" altLang="en-US" smtClean="0"/>
              <a:t>‹#›</a:t>
            </a:fld>
            <a:endParaRPr kumimoji="1" lang="ja-JP" altLang="en-US"/>
          </a:p>
        </p:txBody>
      </p:sp>
    </p:spTree>
    <p:extLst>
      <p:ext uri="{BB962C8B-B14F-4D97-AF65-F5344CB8AC3E}">
        <p14:creationId xmlns:p14="http://schemas.microsoft.com/office/powerpoint/2010/main" val="2078928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67116C18-F878-4327-B464-2F419FACD676}" type="datetimeFigureOut">
              <a:rPr kumimoji="1" lang="ja-JP" altLang="en-US" smtClean="0"/>
              <a:t>2016/2/5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7C93055-99B1-4486-B4CD-83A360585CAB}" type="slidenum">
              <a:rPr kumimoji="1" lang="ja-JP" altLang="en-US" smtClean="0"/>
              <a:t>‹#›</a:t>
            </a:fld>
            <a:endParaRPr kumimoji="1" lang="ja-JP" altLang="en-US"/>
          </a:p>
        </p:txBody>
      </p:sp>
    </p:spTree>
    <p:extLst>
      <p:ext uri="{BB962C8B-B14F-4D97-AF65-F5344CB8AC3E}">
        <p14:creationId xmlns:p14="http://schemas.microsoft.com/office/powerpoint/2010/main" val="3074188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7116C18-F878-4327-B464-2F419FACD676}" type="datetimeFigureOut">
              <a:rPr kumimoji="1" lang="ja-JP" altLang="en-US" smtClean="0"/>
              <a:t>2016/2/5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7C93055-99B1-4486-B4CD-83A360585CAB}" type="slidenum">
              <a:rPr kumimoji="1" lang="ja-JP" altLang="en-US" smtClean="0"/>
              <a:t>‹#›</a:t>
            </a:fld>
            <a:endParaRPr kumimoji="1" lang="ja-JP" altLang="en-US"/>
          </a:p>
        </p:txBody>
      </p:sp>
    </p:spTree>
    <p:extLst>
      <p:ext uri="{BB962C8B-B14F-4D97-AF65-F5344CB8AC3E}">
        <p14:creationId xmlns:p14="http://schemas.microsoft.com/office/powerpoint/2010/main" val="1941648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67116C18-F878-4327-B464-2F419FACD676}" type="datetimeFigureOut">
              <a:rPr kumimoji="1" lang="ja-JP" altLang="en-US" smtClean="0"/>
              <a:t>2016/2/5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7C93055-99B1-4486-B4CD-83A360585CAB}" type="slidenum">
              <a:rPr kumimoji="1" lang="ja-JP" altLang="en-US" smtClean="0"/>
              <a:t>‹#›</a:t>
            </a:fld>
            <a:endParaRPr kumimoji="1" lang="ja-JP" altLang="en-US"/>
          </a:p>
        </p:txBody>
      </p:sp>
    </p:spTree>
    <p:extLst>
      <p:ext uri="{BB962C8B-B14F-4D97-AF65-F5344CB8AC3E}">
        <p14:creationId xmlns:p14="http://schemas.microsoft.com/office/powerpoint/2010/main" val="37129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116C18-F878-4327-B464-2F419FACD676}" type="datetimeFigureOut">
              <a:rPr kumimoji="1" lang="ja-JP" altLang="en-US" smtClean="0"/>
              <a:t>2016/2/5</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C93055-99B1-4486-B4CD-83A360585CAB}" type="slidenum">
              <a:rPr kumimoji="1" lang="ja-JP" altLang="en-US" smtClean="0"/>
              <a:t>‹#›</a:t>
            </a:fld>
            <a:endParaRPr kumimoji="1" lang="ja-JP" altLang="en-US"/>
          </a:p>
        </p:txBody>
      </p:sp>
    </p:spTree>
    <p:extLst>
      <p:ext uri="{BB962C8B-B14F-4D97-AF65-F5344CB8AC3E}">
        <p14:creationId xmlns:p14="http://schemas.microsoft.com/office/powerpoint/2010/main" val="1139814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en-US" altLang="ja-JP" dirty="0" smtClean="0"/>
              <a:t>CUDA</a:t>
            </a:r>
            <a:r>
              <a:rPr kumimoji="1" lang="ja-JP" altLang="en-US" dirty="0" smtClean="0"/>
              <a:t>による</a:t>
            </a:r>
            <a:r>
              <a:rPr kumimoji="1" lang="en-US" altLang="ja-JP" dirty="0" smtClean="0"/>
              <a:t>N</a:t>
            </a:r>
            <a:r>
              <a:rPr lang="ja-JP" altLang="en-US" dirty="0"/>
              <a:t>体</a:t>
            </a:r>
            <a:r>
              <a:rPr kumimoji="1" lang="ja-JP" altLang="en-US" dirty="0" smtClean="0"/>
              <a:t>シミュレーションコードの開発</a:t>
            </a:r>
            <a:endParaRPr kumimoji="1" lang="ja-JP" altLang="en-US" dirty="0"/>
          </a:p>
        </p:txBody>
      </p:sp>
      <p:sp>
        <p:nvSpPr>
          <p:cNvPr id="3" name="サブタイトル 2"/>
          <p:cNvSpPr>
            <a:spLocks noGrp="1"/>
          </p:cNvSpPr>
          <p:nvPr>
            <p:ph type="subTitle" idx="1"/>
          </p:nvPr>
        </p:nvSpPr>
        <p:spPr/>
        <p:txBody>
          <a:bodyPr/>
          <a:lstStyle/>
          <a:p>
            <a:r>
              <a:rPr lang="en-US" altLang="ja-JP" dirty="0">
                <a:solidFill>
                  <a:schemeClr val="tx1"/>
                </a:solidFill>
              </a:rPr>
              <a:t>C10-010</a:t>
            </a:r>
          </a:p>
          <a:p>
            <a:r>
              <a:rPr lang="ja-JP" altLang="en-US" dirty="0" smtClean="0">
                <a:solidFill>
                  <a:schemeClr val="tx1"/>
                </a:solidFill>
              </a:rPr>
              <a:t>理論物理研究室</a:t>
            </a:r>
            <a:endParaRPr lang="en-US" altLang="ja-JP" dirty="0" smtClean="0">
              <a:solidFill>
                <a:schemeClr val="tx1"/>
              </a:solidFill>
            </a:endParaRPr>
          </a:p>
          <a:p>
            <a:r>
              <a:rPr lang="ja-JP" altLang="en-US" dirty="0" smtClean="0">
                <a:solidFill>
                  <a:schemeClr val="tx1"/>
                </a:solidFill>
              </a:rPr>
              <a:t>井上　航</a:t>
            </a:r>
            <a:endParaRPr lang="ja-JP" altLang="en-US" dirty="0">
              <a:solidFill>
                <a:schemeClr val="tx1"/>
              </a:solidFill>
            </a:endParaRPr>
          </a:p>
        </p:txBody>
      </p:sp>
    </p:spTree>
    <p:extLst>
      <p:ext uri="{BB962C8B-B14F-4D97-AF65-F5344CB8AC3E}">
        <p14:creationId xmlns:p14="http://schemas.microsoft.com/office/powerpoint/2010/main" val="33209738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研究目的</a:t>
            </a:r>
            <a:endParaRPr kumimoji="1" lang="ja-JP" altLang="en-US" dirty="0"/>
          </a:p>
        </p:txBody>
      </p:sp>
      <p:sp>
        <p:nvSpPr>
          <p:cNvPr id="3" name="コンテンツ プレースホルダー 2"/>
          <p:cNvSpPr>
            <a:spLocks noGrp="1"/>
          </p:cNvSpPr>
          <p:nvPr>
            <p:ph idx="1"/>
          </p:nvPr>
        </p:nvSpPr>
        <p:spPr/>
        <p:txBody>
          <a:bodyPr/>
          <a:lstStyle/>
          <a:p>
            <a:pPr marL="0" indent="0">
              <a:buNone/>
            </a:pPr>
            <a:r>
              <a:rPr kumimoji="1" lang="ja-JP" altLang="en-US" dirty="0" smtClean="0"/>
              <a:t>近年</a:t>
            </a:r>
            <a:r>
              <a:rPr kumimoji="1" lang="en-US" altLang="ja-JP" dirty="0" smtClean="0"/>
              <a:t>GPU</a:t>
            </a:r>
            <a:r>
              <a:rPr kumimoji="1" lang="ja-JP" altLang="en-US" dirty="0" smtClean="0"/>
              <a:t>の高い演算能力を科学技術計算に活用することが一般的になりつつある。</a:t>
            </a:r>
            <a:endParaRPr kumimoji="1" lang="en-US" altLang="ja-JP" dirty="0" smtClean="0"/>
          </a:p>
          <a:p>
            <a:pPr marL="0" indent="0">
              <a:buNone/>
            </a:pPr>
            <a:r>
              <a:rPr lang="ja-JP" altLang="en-US" dirty="0"/>
              <a:t>非常</a:t>
            </a:r>
            <a:r>
              <a:rPr lang="ja-JP" altLang="en-US" dirty="0" smtClean="0"/>
              <a:t>にオーダーが大きい天文現象にも応用できるということを聞き、実際に</a:t>
            </a:r>
            <a:r>
              <a:rPr lang="en-US" altLang="ja-JP" dirty="0" smtClean="0"/>
              <a:t>GPU</a:t>
            </a:r>
            <a:r>
              <a:rPr lang="ja-JP" altLang="en-US" dirty="0" smtClean="0"/>
              <a:t>に</a:t>
            </a:r>
            <a:r>
              <a:rPr lang="en-US" altLang="ja-JP" dirty="0" smtClean="0"/>
              <a:t>N</a:t>
            </a:r>
            <a:r>
              <a:rPr lang="ja-JP" altLang="en-US" dirty="0" smtClean="0"/>
              <a:t>体問題を解かせ、粒子の運動を</a:t>
            </a:r>
            <a:r>
              <a:rPr lang="en-US" altLang="ja-JP" dirty="0" smtClean="0"/>
              <a:t>OpenGL</a:t>
            </a:r>
            <a:r>
              <a:rPr lang="ja-JP" altLang="en-US" dirty="0" smtClean="0"/>
              <a:t>を使ってグラフィカルに可視化するプログラムを開発した。</a:t>
            </a:r>
            <a:endParaRPr kumimoji="1" lang="ja-JP" altLang="en-US" dirty="0"/>
          </a:p>
        </p:txBody>
      </p:sp>
    </p:spTree>
    <p:extLst>
      <p:ext uri="{BB962C8B-B14F-4D97-AF65-F5344CB8AC3E}">
        <p14:creationId xmlns:p14="http://schemas.microsoft.com/office/powerpoint/2010/main" val="35646226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N</a:t>
            </a:r>
            <a:r>
              <a:rPr kumimoji="1" lang="ja-JP" altLang="en-US" dirty="0" smtClean="0"/>
              <a:t>体シミュレーションとは</a:t>
            </a:r>
            <a:endParaRPr kumimoji="1" lang="ja-JP" altLang="en-US" dirty="0"/>
          </a:p>
        </p:txBody>
      </p:sp>
      <p:sp>
        <p:nvSpPr>
          <p:cNvPr id="3" name="コンテンツ プレースホルダー 2"/>
          <p:cNvSpPr>
            <a:spLocks noGrp="1"/>
          </p:cNvSpPr>
          <p:nvPr>
            <p:ph idx="1"/>
          </p:nvPr>
        </p:nvSpPr>
        <p:spPr/>
        <p:txBody>
          <a:bodyPr/>
          <a:lstStyle/>
          <a:p>
            <a:pPr marL="0" indent="0">
              <a:buNone/>
            </a:pPr>
            <a:r>
              <a:rPr kumimoji="1" lang="en-US" altLang="ja-JP" dirty="0" smtClean="0"/>
              <a:t>N</a:t>
            </a:r>
            <a:r>
              <a:rPr kumimoji="1" lang="ja-JP" altLang="en-US" dirty="0" smtClean="0"/>
              <a:t>体問題（多体問題</a:t>
            </a:r>
            <a:r>
              <a:rPr lang="ja-JP" altLang="en-US" dirty="0" smtClean="0"/>
              <a:t>）の数値解を求める手法</a:t>
            </a:r>
            <a:endParaRPr lang="en-US" altLang="ja-JP" dirty="0" smtClean="0"/>
          </a:p>
          <a:p>
            <a:pPr marL="0" indent="0">
              <a:buNone/>
            </a:pPr>
            <a:endParaRPr kumimoji="1" lang="en-US" altLang="ja-JP" dirty="0" smtClean="0"/>
          </a:p>
          <a:p>
            <a:pPr marL="0" indent="0">
              <a:buNone/>
            </a:pPr>
            <a:endParaRPr kumimoji="1" lang="en-US" altLang="ja-JP" dirty="0"/>
          </a:p>
          <a:p>
            <a:pPr marL="0" indent="0">
              <a:buNone/>
            </a:pPr>
            <a:r>
              <a:rPr kumimoji="1" lang="ja-JP" altLang="en-US" sz="4000" dirty="0" smtClean="0"/>
              <a:t>・</a:t>
            </a:r>
            <a:r>
              <a:rPr kumimoji="1" lang="en-US" altLang="ja-JP" sz="4000" dirty="0" smtClean="0"/>
              <a:t>N</a:t>
            </a:r>
            <a:r>
              <a:rPr kumimoji="1" lang="ja-JP" altLang="en-US" sz="4000" dirty="0" smtClean="0"/>
              <a:t>体問題とは</a:t>
            </a:r>
            <a:endParaRPr kumimoji="1" lang="en-US" altLang="ja-JP" sz="4000" dirty="0" smtClean="0"/>
          </a:p>
          <a:p>
            <a:pPr marL="0" indent="0">
              <a:buNone/>
            </a:pPr>
            <a:r>
              <a:rPr lang="ja-JP" altLang="en-US" dirty="0" smtClean="0"/>
              <a:t>相互作用している</a:t>
            </a:r>
            <a:r>
              <a:rPr lang="en-US" altLang="ja-JP" dirty="0"/>
              <a:t>N</a:t>
            </a:r>
            <a:r>
              <a:rPr lang="ja-JP" altLang="en-US" dirty="0"/>
              <a:t>個の物体の運動を決める</a:t>
            </a:r>
            <a:r>
              <a:rPr lang="ja-JP" altLang="en-US" dirty="0" smtClean="0"/>
              <a:t>問題</a:t>
            </a:r>
            <a:endParaRPr lang="en-US" altLang="ja-JP" dirty="0"/>
          </a:p>
          <a:p>
            <a:pPr marL="0" indent="0">
              <a:buNone/>
            </a:pPr>
            <a:r>
              <a:rPr lang="ja-JP" altLang="en-US" dirty="0" smtClean="0"/>
              <a:t>本研究では重力による相互作用を扱う</a:t>
            </a:r>
            <a:endParaRPr lang="ja-JP" altLang="en-US" dirty="0"/>
          </a:p>
          <a:p>
            <a:pPr marL="0" indent="0">
              <a:buNone/>
            </a:pPr>
            <a:endParaRPr kumimoji="1" lang="ja-JP" altLang="en-US" dirty="0"/>
          </a:p>
        </p:txBody>
      </p:sp>
    </p:spTree>
    <p:extLst>
      <p:ext uri="{BB962C8B-B14F-4D97-AF65-F5344CB8AC3E}">
        <p14:creationId xmlns:p14="http://schemas.microsoft.com/office/powerpoint/2010/main" val="16865371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N</a:t>
            </a:r>
            <a:r>
              <a:rPr lang="ja-JP" altLang="en-US" dirty="0"/>
              <a:t>体問題の特徴</a:t>
            </a:r>
            <a:endParaRPr kumimoji="1" lang="ja-JP" altLang="en-US" dirty="0"/>
          </a:p>
        </p:txBody>
      </p:sp>
      <mc:AlternateContent xmlns:mc="http://schemas.openxmlformats.org/markup-compatibility/2006">
        <mc:Choice xmlns:a14="http://schemas.microsoft.com/office/drawing/2010/main" Requires="a14">
          <p:sp>
            <p:nvSpPr>
              <p:cNvPr id="3" name="コンテンツ プレースホルダー 2"/>
              <p:cNvSpPr>
                <a:spLocks noGrp="1"/>
              </p:cNvSpPr>
              <p:nvPr>
                <p:ph idx="1"/>
              </p:nvPr>
            </p:nvSpPr>
            <p:spPr/>
            <p:txBody>
              <a:bodyPr>
                <a:normAutofit/>
              </a:bodyPr>
              <a:lstStyle/>
              <a:p>
                <a:r>
                  <a:rPr lang="ja-JP" altLang="en-US" dirty="0" smtClean="0"/>
                  <a:t>全ての物体の相互作用を計算する</a:t>
                </a:r>
                <a:endParaRPr lang="en-US" altLang="ja-JP" dirty="0" smtClean="0"/>
              </a:p>
              <a:p>
                <a:r>
                  <a:rPr lang="ja-JP" altLang="en-US" dirty="0" smtClean="0"/>
                  <a:t>使用する運動方程式は</a:t>
                </a:r>
                <a14:m>
                  <m:oMath xmlns:m="http://schemas.openxmlformats.org/officeDocument/2006/math">
                    <m:sSub>
                      <m:sSubPr>
                        <m:ctrlPr>
                          <a:rPr lang="en-US" altLang="ja-JP" i="1" smtClean="0">
                            <a:latin typeface="Cambria Math"/>
                          </a:rPr>
                        </m:ctrlPr>
                      </m:sSubPr>
                      <m:e>
                        <m:r>
                          <a:rPr lang="en-US" altLang="ja-JP" b="0" i="1" smtClean="0">
                            <a:latin typeface="Cambria Math"/>
                          </a:rPr>
                          <m:t>𝑚</m:t>
                        </m:r>
                      </m:e>
                      <m:sub>
                        <m:r>
                          <a:rPr lang="en-US" altLang="ja-JP" b="0" i="1" smtClean="0">
                            <a:latin typeface="Cambria Math"/>
                          </a:rPr>
                          <m:t>𝑖</m:t>
                        </m:r>
                      </m:sub>
                    </m:sSub>
                    <m:f>
                      <m:fPr>
                        <m:ctrlPr>
                          <a:rPr lang="ja-JP" altLang="ja-JP" i="1">
                            <a:latin typeface="Cambria Math"/>
                          </a:rPr>
                        </m:ctrlPr>
                      </m:fPr>
                      <m:num>
                        <m:sSup>
                          <m:sSupPr>
                            <m:ctrlPr>
                              <a:rPr lang="ja-JP" altLang="ja-JP" i="1">
                                <a:latin typeface="Cambria Math"/>
                              </a:rPr>
                            </m:ctrlPr>
                          </m:sSupPr>
                          <m:e>
                            <m:r>
                              <a:rPr lang="en-US" altLang="ja-JP" i="1">
                                <a:latin typeface="Cambria Math"/>
                              </a:rPr>
                              <m:t>𝑑</m:t>
                            </m:r>
                          </m:e>
                          <m:sup>
                            <m:r>
                              <a:rPr lang="en-US" altLang="ja-JP" i="1">
                                <a:latin typeface="Cambria Math"/>
                              </a:rPr>
                              <m:t>2</m:t>
                            </m:r>
                          </m:sup>
                        </m:sSup>
                        <m:sSub>
                          <m:sSubPr>
                            <m:ctrlPr>
                              <a:rPr lang="ja-JP" altLang="ja-JP" i="1">
                                <a:latin typeface="Cambria Math"/>
                              </a:rPr>
                            </m:ctrlPr>
                          </m:sSubPr>
                          <m:e>
                            <m:r>
                              <a:rPr lang="en-US" altLang="ja-JP" b="1" i="1">
                                <a:latin typeface="Cambria Math"/>
                              </a:rPr>
                              <m:t>𝒓</m:t>
                            </m:r>
                          </m:e>
                          <m:sub>
                            <m:r>
                              <a:rPr lang="en-US" altLang="ja-JP" i="1">
                                <a:latin typeface="Cambria Math"/>
                              </a:rPr>
                              <m:t>𝑖</m:t>
                            </m:r>
                          </m:sub>
                        </m:sSub>
                      </m:num>
                      <m:den>
                        <m:r>
                          <a:rPr lang="en-US" altLang="ja-JP" i="1">
                            <a:latin typeface="Cambria Math"/>
                          </a:rPr>
                          <m:t>𝑑</m:t>
                        </m:r>
                        <m:sSup>
                          <m:sSupPr>
                            <m:ctrlPr>
                              <a:rPr lang="ja-JP" altLang="ja-JP" i="1">
                                <a:latin typeface="Cambria Math"/>
                              </a:rPr>
                            </m:ctrlPr>
                          </m:sSupPr>
                          <m:e>
                            <m:r>
                              <a:rPr lang="en-US" altLang="ja-JP" i="1">
                                <a:latin typeface="Cambria Math"/>
                              </a:rPr>
                              <m:t>𝑡</m:t>
                            </m:r>
                          </m:e>
                          <m:sup>
                            <m:r>
                              <a:rPr lang="en-US" altLang="ja-JP" i="1">
                                <a:latin typeface="Cambria Math"/>
                              </a:rPr>
                              <m:t>2</m:t>
                            </m:r>
                          </m:sup>
                        </m:sSup>
                      </m:den>
                    </m:f>
                    <m:r>
                      <a:rPr lang="en-US" altLang="ja-JP" i="1">
                        <a:latin typeface="Cambria Math"/>
                      </a:rPr>
                      <m:t>=</m:t>
                    </m:r>
                    <m:nary>
                      <m:naryPr>
                        <m:chr m:val="∑"/>
                        <m:ctrlPr>
                          <a:rPr lang="ja-JP" altLang="ja-JP" i="1">
                            <a:latin typeface="Cambria Math"/>
                          </a:rPr>
                        </m:ctrlPr>
                      </m:naryPr>
                      <m:sub>
                        <m:r>
                          <a:rPr lang="en-US" altLang="ja-JP" i="1">
                            <a:latin typeface="Cambria Math"/>
                          </a:rPr>
                          <m:t>𝑗</m:t>
                        </m:r>
                        <m:r>
                          <a:rPr lang="en-US" altLang="ja-JP" i="1">
                            <a:latin typeface="Cambria Math"/>
                          </a:rPr>
                          <m:t>≠</m:t>
                        </m:r>
                        <m:r>
                          <a:rPr lang="en-US" altLang="ja-JP" i="1">
                            <a:latin typeface="Cambria Math"/>
                          </a:rPr>
                          <m:t>𝑖</m:t>
                        </m:r>
                      </m:sub>
                      <m:sup>
                        <m:r>
                          <a:rPr lang="en-US" altLang="ja-JP" i="1">
                            <a:latin typeface="Cambria Math"/>
                          </a:rPr>
                          <m:t>𝑁</m:t>
                        </m:r>
                      </m:sup>
                      <m:e>
                        <m:r>
                          <a:rPr lang="en-US" altLang="ja-JP" i="1">
                            <a:latin typeface="Cambria Math"/>
                          </a:rPr>
                          <m:t>𝐺</m:t>
                        </m:r>
                        <m:sSub>
                          <m:sSubPr>
                            <m:ctrlPr>
                              <a:rPr lang="ja-JP" altLang="ja-JP" i="1">
                                <a:latin typeface="Cambria Math"/>
                              </a:rPr>
                            </m:ctrlPr>
                          </m:sSubPr>
                          <m:e>
                            <m:sSub>
                              <m:sSubPr>
                                <m:ctrlPr>
                                  <a:rPr lang="en-US" altLang="ja-JP" i="1" smtClean="0">
                                    <a:latin typeface="Cambria Math"/>
                                  </a:rPr>
                                </m:ctrlPr>
                              </m:sSubPr>
                              <m:e>
                                <m:r>
                                  <a:rPr lang="en-US" altLang="ja-JP" b="0" i="1" smtClean="0">
                                    <a:latin typeface="Cambria Math"/>
                                  </a:rPr>
                                  <m:t>𝑚</m:t>
                                </m:r>
                              </m:e>
                              <m:sub>
                                <m:r>
                                  <a:rPr lang="en-US" altLang="ja-JP" b="0" i="1" smtClean="0">
                                    <a:latin typeface="Cambria Math"/>
                                  </a:rPr>
                                  <m:t>𝑖</m:t>
                                </m:r>
                              </m:sub>
                            </m:sSub>
                            <m:r>
                              <a:rPr lang="en-US" altLang="ja-JP" i="1">
                                <a:latin typeface="Cambria Math"/>
                              </a:rPr>
                              <m:t>𝑚</m:t>
                            </m:r>
                          </m:e>
                          <m:sub>
                            <m:r>
                              <a:rPr lang="en-US" altLang="ja-JP" i="1">
                                <a:latin typeface="Cambria Math"/>
                              </a:rPr>
                              <m:t>𝑗</m:t>
                            </m:r>
                          </m:sub>
                        </m:sSub>
                        <m:f>
                          <m:fPr>
                            <m:ctrlPr>
                              <a:rPr lang="ja-JP" altLang="ja-JP" i="1">
                                <a:latin typeface="Cambria Math"/>
                              </a:rPr>
                            </m:ctrlPr>
                          </m:fPr>
                          <m:num>
                            <m:sSub>
                              <m:sSubPr>
                                <m:ctrlPr>
                                  <a:rPr lang="ja-JP" altLang="ja-JP" i="1">
                                    <a:latin typeface="Cambria Math"/>
                                  </a:rPr>
                                </m:ctrlPr>
                              </m:sSubPr>
                              <m:e>
                                <m:r>
                                  <a:rPr lang="en-US" altLang="ja-JP" b="1" i="1">
                                    <a:latin typeface="Cambria Math"/>
                                  </a:rPr>
                                  <m:t>𝒓</m:t>
                                </m:r>
                              </m:e>
                              <m:sub>
                                <m:r>
                                  <a:rPr lang="en-US" altLang="ja-JP" i="1">
                                    <a:latin typeface="Cambria Math"/>
                                  </a:rPr>
                                  <m:t>𝑗</m:t>
                                </m:r>
                              </m:sub>
                            </m:sSub>
                            <m:r>
                              <a:rPr lang="en-US" altLang="ja-JP" i="1">
                                <a:latin typeface="Cambria Math"/>
                              </a:rPr>
                              <m:t>−</m:t>
                            </m:r>
                            <m:sSub>
                              <m:sSubPr>
                                <m:ctrlPr>
                                  <a:rPr lang="ja-JP" altLang="ja-JP" i="1">
                                    <a:latin typeface="Cambria Math"/>
                                  </a:rPr>
                                </m:ctrlPr>
                              </m:sSubPr>
                              <m:e>
                                <m:r>
                                  <a:rPr lang="en-US" altLang="ja-JP" b="1" i="1">
                                    <a:latin typeface="Cambria Math"/>
                                  </a:rPr>
                                  <m:t>𝒓</m:t>
                                </m:r>
                              </m:e>
                              <m:sub>
                                <m:r>
                                  <a:rPr lang="en-US" altLang="ja-JP" i="1">
                                    <a:latin typeface="Cambria Math"/>
                                  </a:rPr>
                                  <m:t>𝑖</m:t>
                                </m:r>
                              </m:sub>
                            </m:sSub>
                          </m:num>
                          <m:den>
                            <m:sSup>
                              <m:sSupPr>
                                <m:ctrlPr>
                                  <a:rPr lang="ja-JP" altLang="ja-JP" i="1">
                                    <a:latin typeface="Cambria Math"/>
                                  </a:rPr>
                                </m:ctrlPr>
                              </m:sSupPr>
                              <m:e>
                                <m:d>
                                  <m:dPr>
                                    <m:ctrlPr>
                                      <a:rPr lang="ja-JP" altLang="ja-JP" i="1">
                                        <a:latin typeface="Cambria Math"/>
                                      </a:rPr>
                                    </m:ctrlPr>
                                  </m:dPr>
                                  <m:e>
                                    <m:sSubSup>
                                      <m:sSubSupPr>
                                        <m:ctrlPr>
                                          <a:rPr lang="ja-JP" altLang="ja-JP" i="1">
                                            <a:latin typeface="Cambria Math"/>
                                          </a:rPr>
                                        </m:ctrlPr>
                                      </m:sSubSupPr>
                                      <m:e>
                                        <m:r>
                                          <a:rPr lang="en-US" altLang="ja-JP" i="1">
                                            <a:latin typeface="Cambria Math"/>
                                          </a:rPr>
                                          <m:t>𝑟</m:t>
                                        </m:r>
                                      </m:e>
                                      <m:sub>
                                        <m:r>
                                          <a:rPr lang="en-US" altLang="ja-JP" i="1">
                                            <a:latin typeface="Cambria Math"/>
                                          </a:rPr>
                                          <m:t>𝑖𝑗</m:t>
                                        </m:r>
                                      </m:sub>
                                      <m:sup>
                                        <m:r>
                                          <a:rPr lang="en-US" altLang="ja-JP" i="1">
                                            <a:latin typeface="Cambria Math"/>
                                          </a:rPr>
                                          <m:t>2</m:t>
                                        </m:r>
                                      </m:sup>
                                    </m:sSubSup>
                                    <m:r>
                                      <a:rPr lang="en-US" altLang="ja-JP" i="1">
                                        <a:latin typeface="Cambria Math"/>
                                      </a:rPr>
                                      <m:t>+</m:t>
                                    </m:r>
                                    <m:sSup>
                                      <m:sSupPr>
                                        <m:ctrlPr>
                                          <a:rPr lang="ja-JP" altLang="ja-JP" i="1">
                                            <a:latin typeface="Cambria Math"/>
                                          </a:rPr>
                                        </m:ctrlPr>
                                      </m:sSupPr>
                                      <m:e>
                                        <m:r>
                                          <a:rPr lang="en-US" altLang="ja-JP" i="1">
                                            <a:latin typeface="Cambria Math"/>
                                          </a:rPr>
                                          <m:t>𝜀</m:t>
                                        </m:r>
                                      </m:e>
                                      <m:sup>
                                        <m:r>
                                          <a:rPr lang="en-US" altLang="ja-JP" i="1">
                                            <a:latin typeface="Cambria Math"/>
                                          </a:rPr>
                                          <m:t>2</m:t>
                                        </m:r>
                                      </m:sup>
                                    </m:sSup>
                                  </m:e>
                                </m:d>
                              </m:e>
                              <m:sup>
                                <m:f>
                                  <m:fPr>
                                    <m:ctrlPr>
                                      <a:rPr lang="ja-JP" altLang="ja-JP" i="1">
                                        <a:latin typeface="Cambria Math"/>
                                      </a:rPr>
                                    </m:ctrlPr>
                                  </m:fPr>
                                  <m:num>
                                    <m:r>
                                      <a:rPr lang="en-US" altLang="ja-JP" i="1">
                                        <a:latin typeface="Cambria Math"/>
                                      </a:rPr>
                                      <m:t>3</m:t>
                                    </m:r>
                                  </m:num>
                                  <m:den>
                                    <m:r>
                                      <a:rPr lang="en-US" altLang="ja-JP" i="1">
                                        <a:latin typeface="Cambria Math"/>
                                      </a:rPr>
                                      <m:t>2</m:t>
                                    </m:r>
                                  </m:den>
                                </m:f>
                              </m:sup>
                            </m:sSup>
                          </m:den>
                        </m:f>
                      </m:e>
                    </m:nary>
                  </m:oMath>
                </a14:m>
                <a:endParaRPr lang="en-US" altLang="ja-JP" i="1" dirty="0" smtClean="0">
                  <a:latin typeface="Cambria Math"/>
                </a:endParaRPr>
              </a:p>
              <a:p>
                <a:pPr marL="0" indent="0">
                  <a:buNone/>
                </a:pPr>
                <a14:m>
                  <m:oMath xmlns:m="http://schemas.openxmlformats.org/officeDocument/2006/math">
                    <m:r>
                      <a:rPr lang="en-US" altLang="ja-JP" sz="1800" b="0" i="1" smtClean="0">
                        <a:latin typeface="Cambria Math"/>
                      </a:rPr>
                      <m:t>𝐺</m:t>
                    </m:r>
                    <m:r>
                      <a:rPr lang="en-US" altLang="ja-JP" sz="1800" b="0" i="1" smtClean="0">
                        <a:latin typeface="Cambria Math"/>
                      </a:rPr>
                      <m:t>=</m:t>
                    </m:r>
                  </m:oMath>
                </a14:m>
                <a:r>
                  <a:rPr lang="ja-JP" altLang="en-US" sz="1800" dirty="0" smtClean="0"/>
                  <a:t>万有引力定数、</a:t>
                </a:r>
                <a14:m>
                  <m:oMath xmlns:m="http://schemas.openxmlformats.org/officeDocument/2006/math">
                    <m:r>
                      <a:rPr lang="en-US" altLang="ja-JP" sz="1800" b="0" i="1" smtClean="0">
                        <a:latin typeface="Cambria Math"/>
                      </a:rPr>
                      <m:t>𝑚</m:t>
                    </m:r>
                    <m:r>
                      <a:rPr lang="en-US" altLang="ja-JP" sz="1800" b="0" i="1" smtClean="0">
                        <a:latin typeface="Cambria Math"/>
                      </a:rPr>
                      <m:t>=</m:t>
                    </m:r>
                  </m:oMath>
                </a14:m>
                <a:r>
                  <a:rPr lang="ja-JP" altLang="en-US" sz="1800" dirty="0" smtClean="0"/>
                  <a:t>粒子の質量、</a:t>
                </a:r>
                <a14:m>
                  <m:oMath xmlns:m="http://schemas.openxmlformats.org/officeDocument/2006/math">
                    <m:r>
                      <a:rPr lang="en-US" altLang="ja-JP" sz="1800" b="0" i="1" smtClean="0">
                        <a:latin typeface="Cambria Math"/>
                      </a:rPr>
                      <m:t>𝑟</m:t>
                    </m:r>
                    <m:r>
                      <a:rPr lang="en-US" altLang="ja-JP" sz="1800" b="0" i="1" smtClean="0">
                        <a:latin typeface="Cambria Math"/>
                      </a:rPr>
                      <m:t>=</m:t>
                    </m:r>
                  </m:oMath>
                </a14:m>
                <a:r>
                  <a:rPr lang="ja-JP" altLang="en-US" sz="1800" dirty="0" smtClean="0"/>
                  <a:t>粒子の距離、</a:t>
                </a:r>
                <a14:m>
                  <m:oMath xmlns:m="http://schemas.openxmlformats.org/officeDocument/2006/math">
                    <m:r>
                      <a:rPr lang="ja-JP" altLang="en-US" sz="1800" i="1" smtClean="0">
                        <a:latin typeface="Cambria Math"/>
                      </a:rPr>
                      <m:t>𝜀</m:t>
                    </m:r>
                    <m:r>
                      <a:rPr lang="en-US" altLang="ja-JP" sz="1800" b="0" i="1" smtClean="0">
                        <a:latin typeface="Cambria Math"/>
                      </a:rPr>
                      <m:t>=</m:t>
                    </m:r>
                  </m:oMath>
                </a14:m>
                <a:r>
                  <a:rPr lang="ja-JP" altLang="en-US" sz="1800" dirty="0" smtClean="0"/>
                  <a:t>ソフトニング長（値を発散あせないための微少な値）</a:t>
                </a:r>
                <a:endParaRPr lang="en-US" altLang="ja-JP" sz="1800" dirty="0" smtClean="0"/>
              </a:p>
              <a:p>
                <a:r>
                  <a:rPr lang="ja-JP" altLang="en-US" dirty="0" smtClean="0"/>
                  <a:t>直接</a:t>
                </a:r>
                <a:r>
                  <a:rPr lang="ja-JP" altLang="en-US" dirty="0"/>
                  <a:t>計算すると</a:t>
                </a:r>
                <a:r>
                  <a:rPr lang="ja-JP" altLang="en-US" dirty="0" smtClean="0"/>
                  <a:t>計算量は</a:t>
                </a:r>
                <a14:m>
                  <m:oMath xmlns:m="http://schemas.openxmlformats.org/officeDocument/2006/math">
                    <m:r>
                      <a:rPr lang="en-US" altLang="ja-JP" b="0" i="1" smtClean="0">
                        <a:latin typeface="Cambria Math"/>
                      </a:rPr>
                      <m:t>𝑂</m:t>
                    </m:r>
                    <m:r>
                      <a:rPr lang="en-US" altLang="ja-JP" b="0" i="1" smtClean="0">
                        <a:latin typeface="Cambria Math"/>
                      </a:rPr>
                      <m:t>(</m:t>
                    </m:r>
                    <m:sSup>
                      <m:sSupPr>
                        <m:ctrlPr>
                          <a:rPr lang="en-US" altLang="ja-JP" b="0" i="1" smtClean="0">
                            <a:latin typeface="Cambria Math"/>
                          </a:rPr>
                        </m:ctrlPr>
                      </m:sSupPr>
                      <m:e>
                        <m:r>
                          <a:rPr lang="en-US" altLang="ja-JP" b="0" i="1" smtClean="0">
                            <a:latin typeface="Cambria Math"/>
                          </a:rPr>
                          <m:t>𝑁</m:t>
                        </m:r>
                      </m:e>
                      <m:sup>
                        <m:r>
                          <a:rPr lang="en-US" altLang="ja-JP" b="0" i="1" smtClean="0">
                            <a:latin typeface="Cambria Math"/>
                          </a:rPr>
                          <m:t>2</m:t>
                        </m:r>
                      </m:sup>
                    </m:sSup>
                    <m:r>
                      <a:rPr lang="en-US" altLang="ja-JP" b="0" i="1" smtClean="0">
                        <a:latin typeface="Cambria Math"/>
                      </a:rPr>
                      <m:t>)</m:t>
                    </m:r>
                  </m:oMath>
                </a14:m>
                <a:endParaRPr lang="en-US" altLang="ja-JP" dirty="0" smtClean="0"/>
              </a:p>
            </p:txBody>
          </p:sp>
        </mc:Choice>
        <mc:Fallback>
          <p:sp>
            <p:nvSpPr>
              <p:cNvPr id="3" name="コンテンツ プレースホルダー 2"/>
              <p:cNvSpPr>
                <a:spLocks noGrp="1" noRot="1" noChangeAspect="1" noMove="1" noResize="1" noEditPoints="1" noAdjustHandles="1" noChangeArrowheads="1" noChangeShapeType="1" noTextEdit="1"/>
              </p:cNvSpPr>
              <p:nvPr>
                <p:ph idx="1"/>
              </p:nvPr>
            </p:nvSpPr>
            <p:spPr>
              <a:blipFill rotWithShape="1">
                <a:blip r:embed="rId2"/>
                <a:stretch>
                  <a:fillRect l="-1630" t="-2426" r="-14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506824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457200" y="260648"/>
            <a:ext cx="8229600" cy="5865515"/>
          </a:xfrm>
        </p:spPr>
        <p:txBody>
          <a:bodyPr>
            <a:normAutofit/>
          </a:bodyPr>
          <a:lstStyle/>
          <a:p>
            <a:pPr marL="0" indent="0">
              <a:buNone/>
            </a:pPr>
            <a:r>
              <a:rPr kumimoji="1" lang="ja-JP" altLang="en-US" dirty="0" smtClean="0"/>
              <a:t>相互作用を図式化すると</a:t>
            </a:r>
            <a:endParaRPr kumimoji="1" lang="en-US" altLang="ja-JP" dirty="0" smtClean="0"/>
          </a:p>
          <a:p>
            <a:pPr marL="0" indent="0">
              <a:buNone/>
            </a:pPr>
            <a:r>
              <a:rPr lang="ja-JP" altLang="en-US" sz="2800" dirty="0" smtClean="0"/>
              <a:t>矢印が粒子にかかる力</a:t>
            </a:r>
            <a:endParaRPr lang="en-US" altLang="ja-JP" sz="2800" dirty="0"/>
          </a:p>
          <a:p>
            <a:pPr marL="0" indent="0">
              <a:buNone/>
            </a:pPr>
            <a:endParaRPr kumimoji="1" lang="en-US" altLang="ja-JP" dirty="0" smtClean="0"/>
          </a:p>
          <a:p>
            <a:pPr marL="0" indent="0">
              <a:buNone/>
            </a:pPr>
            <a:endParaRPr lang="en-US" altLang="ja-JP" dirty="0"/>
          </a:p>
          <a:p>
            <a:pPr marL="0" indent="0">
              <a:buNone/>
            </a:pPr>
            <a:endParaRPr kumimoji="1" lang="en-US" altLang="ja-JP" dirty="0" smtClean="0"/>
          </a:p>
          <a:p>
            <a:pPr marL="0" indent="0">
              <a:buNone/>
            </a:pPr>
            <a:endParaRPr lang="en-US" altLang="ja-JP" dirty="0"/>
          </a:p>
          <a:p>
            <a:pPr marL="0" indent="0">
              <a:buNone/>
            </a:pPr>
            <a:endParaRPr kumimoji="1" lang="en-US" altLang="ja-JP" dirty="0" smtClean="0"/>
          </a:p>
          <a:p>
            <a:pPr marL="0" indent="0">
              <a:buNone/>
            </a:pPr>
            <a:endParaRPr lang="en-US" altLang="ja-JP" dirty="0"/>
          </a:p>
          <a:p>
            <a:pPr marL="0" indent="0">
              <a:buNone/>
            </a:pPr>
            <a:endParaRPr kumimoji="1" lang="en-US" altLang="ja-JP" dirty="0" smtClean="0"/>
          </a:p>
          <a:p>
            <a:pPr marL="0" indent="0" algn="ctr">
              <a:buNone/>
            </a:pPr>
            <a:r>
              <a:rPr kumimoji="1" lang="en-US" altLang="ja-JP" dirty="0" smtClean="0"/>
              <a:t>N=4</a:t>
            </a:r>
            <a:endParaRPr kumimoji="1" lang="ja-JP" altLang="en-US" dirty="0"/>
          </a:p>
        </p:txBody>
      </p:sp>
      <p:pic>
        <p:nvPicPr>
          <p:cNvPr id="2050" name="Picture 2" descr="C:\Users\main\Desktop\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283" y="1412776"/>
            <a:ext cx="5925348" cy="4053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1345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457200" y="260648"/>
            <a:ext cx="8229600" cy="6480720"/>
          </a:xfrm>
        </p:spPr>
        <p:txBody>
          <a:bodyPr>
            <a:normAutofit/>
          </a:bodyPr>
          <a:lstStyle/>
          <a:p>
            <a:pPr marL="0" indent="0">
              <a:buNone/>
            </a:pPr>
            <a:r>
              <a:rPr kumimoji="1" lang="ja-JP" altLang="en-US" dirty="0" smtClean="0"/>
              <a:t>しかし数が多くなると</a:t>
            </a:r>
            <a:endParaRPr kumimoji="1" lang="en-US" altLang="ja-JP" dirty="0" smtClean="0"/>
          </a:p>
          <a:p>
            <a:pPr marL="0" indent="0">
              <a:buNone/>
            </a:pPr>
            <a:r>
              <a:rPr lang="ja-JP" altLang="en-US" dirty="0"/>
              <a:t>こう</a:t>
            </a:r>
            <a:r>
              <a:rPr lang="ja-JP" altLang="en-US" dirty="0" smtClean="0"/>
              <a:t>なる</a:t>
            </a:r>
            <a:endParaRPr lang="en-US" altLang="ja-JP" dirty="0" smtClean="0"/>
          </a:p>
          <a:p>
            <a:pPr marL="0" indent="0">
              <a:buNone/>
            </a:pPr>
            <a:endParaRPr kumimoji="1" lang="en-US" altLang="ja-JP" dirty="0"/>
          </a:p>
          <a:p>
            <a:pPr marL="0" indent="0">
              <a:buNone/>
            </a:pPr>
            <a:endParaRPr lang="en-US" altLang="ja-JP" dirty="0" smtClean="0"/>
          </a:p>
          <a:p>
            <a:pPr marL="0" indent="0">
              <a:buNone/>
            </a:pPr>
            <a:endParaRPr kumimoji="1" lang="en-US" altLang="ja-JP" dirty="0"/>
          </a:p>
          <a:p>
            <a:pPr marL="0" indent="0">
              <a:buNone/>
            </a:pPr>
            <a:endParaRPr lang="en-US" altLang="ja-JP" dirty="0" smtClean="0"/>
          </a:p>
          <a:p>
            <a:pPr marL="0" indent="0">
              <a:buNone/>
            </a:pPr>
            <a:endParaRPr kumimoji="1" lang="en-US" altLang="ja-JP" dirty="0"/>
          </a:p>
          <a:p>
            <a:pPr marL="0" indent="0">
              <a:buNone/>
            </a:pPr>
            <a:endParaRPr lang="en-US" altLang="ja-JP" dirty="0" smtClean="0"/>
          </a:p>
          <a:p>
            <a:pPr marL="0" indent="0">
              <a:buNone/>
            </a:pPr>
            <a:endParaRPr kumimoji="1" lang="en-US" altLang="ja-JP" dirty="0"/>
          </a:p>
          <a:p>
            <a:pPr marL="0" indent="0">
              <a:buNone/>
            </a:pPr>
            <a:endParaRPr lang="en-US" altLang="ja-JP" dirty="0" smtClean="0"/>
          </a:p>
          <a:p>
            <a:pPr marL="0" indent="0" algn="ctr">
              <a:buNone/>
            </a:pPr>
            <a:r>
              <a:rPr kumimoji="1" lang="en-US" altLang="ja-JP" dirty="0" smtClean="0"/>
              <a:t>N=16</a:t>
            </a:r>
            <a:endParaRPr kumimoji="1" lang="ja-JP" altLang="en-US" dirty="0"/>
          </a:p>
        </p:txBody>
      </p:sp>
      <p:pic>
        <p:nvPicPr>
          <p:cNvPr id="3074" name="Picture 2" descr="C:\Users\main\Desktop\3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721" y="1412775"/>
            <a:ext cx="7836869" cy="4680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0525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457200" y="260648"/>
            <a:ext cx="8229600" cy="6480720"/>
          </a:xfrm>
        </p:spPr>
        <p:txBody>
          <a:bodyPr>
            <a:normAutofit/>
          </a:bodyPr>
          <a:lstStyle/>
          <a:p>
            <a:pPr marL="0" indent="0">
              <a:buNone/>
            </a:pPr>
            <a:r>
              <a:rPr kumimoji="1" lang="ja-JP" altLang="en-US" dirty="0" smtClean="0"/>
              <a:t>しかし数が多くなると</a:t>
            </a:r>
            <a:endParaRPr kumimoji="1" lang="en-US" altLang="ja-JP" dirty="0" smtClean="0"/>
          </a:p>
          <a:p>
            <a:pPr marL="0" indent="0">
              <a:buNone/>
            </a:pPr>
            <a:r>
              <a:rPr lang="ja-JP" altLang="en-US" dirty="0"/>
              <a:t>こう</a:t>
            </a:r>
            <a:r>
              <a:rPr lang="ja-JP" altLang="en-US" dirty="0" smtClean="0"/>
              <a:t>なる</a:t>
            </a:r>
            <a:endParaRPr lang="en-US" altLang="ja-JP" dirty="0" smtClean="0"/>
          </a:p>
          <a:p>
            <a:pPr marL="0" indent="0">
              <a:buNone/>
            </a:pPr>
            <a:endParaRPr kumimoji="1" lang="en-US" altLang="ja-JP" dirty="0"/>
          </a:p>
          <a:p>
            <a:pPr marL="0" indent="0">
              <a:buNone/>
            </a:pPr>
            <a:endParaRPr lang="en-US" altLang="ja-JP" dirty="0" smtClean="0"/>
          </a:p>
          <a:p>
            <a:pPr marL="0" indent="0">
              <a:buNone/>
            </a:pPr>
            <a:endParaRPr kumimoji="1" lang="en-US" altLang="ja-JP" dirty="0"/>
          </a:p>
          <a:p>
            <a:pPr marL="0" indent="0">
              <a:buNone/>
            </a:pPr>
            <a:endParaRPr lang="en-US" altLang="ja-JP" dirty="0" smtClean="0"/>
          </a:p>
          <a:p>
            <a:pPr marL="0" indent="0">
              <a:buNone/>
            </a:pPr>
            <a:endParaRPr kumimoji="1" lang="en-US" altLang="ja-JP" dirty="0"/>
          </a:p>
          <a:p>
            <a:pPr marL="0" indent="0">
              <a:buNone/>
            </a:pPr>
            <a:endParaRPr lang="en-US" altLang="ja-JP" dirty="0" smtClean="0"/>
          </a:p>
          <a:p>
            <a:pPr marL="0" indent="0">
              <a:buNone/>
            </a:pPr>
            <a:endParaRPr kumimoji="1" lang="en-US" altLang="ja-JP" dirty="0" smtClean="0"/>
          </a:p>
          <a:p>
            <a:pPr marL="0" indent="0">
              <a:buNone/>
            </a:pPr>
            <a:endParaRPr lang="en-US" altLang="ja-JP" dirty="0" smtClean="0"/>
          </a:p>
          <a:p>
            <a:pPr marL="0" indent="0" algn="ctr">
              <a:buNone/>
            </a:pPr>
            <a:r>
              <a:rPr kumimoji="1" lang="en-US" altLang="ja-JP" dirty="0" smtClean="0"/>
              <a:t>N=128</a:t>
            </a:r>
            <a:endParaRPr kumimoji="1" lang="ja-JP" altLang="en-US" dirty="0"/>
          </a:p>
        </p:txBody>
      </p:sp>
      <p:pic>
        <p:nvPicPr>
          <p:cNvPr id="4098" name="Picture 2" descr="C:\Users\main\Desktop\12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484784"/>
            <a:ext cx="6383884"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9907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457200" y="548680"/>
            <a:ext cx="8229600" cy="5577483"/>
          </a:xfrm>
        </p:spPr>
        <p:txBody>
          <a:bodyPr>
            <a:normAutofit/>
          </a:bodyPr>
          <a:lstStyle/>
          <a:p>
            <a:pPr marL="0" indent="0">
              <a:buNone/>
            </a:pPr>
            <a:r>
              <a:rPr kumimoji="1" lang="ja-JP" altLang="en-US" sz="3600" dirty="0" smtClean="0"/>
              <a:t>銀河の恒星の数は数千万個～数兆個以上</a:t>
            </a:r>
            <a:endParaRPr kumimoji="1" lang="en-US" altLang="ja-JP" sz="3600" dirty="0" smtClean="0"/>
          </a:p>
          <a:p>
            <a:pPr marL="0" indent="0">
              <a:buNone/>
            </a:pPr>
            <a:r>
              <a:rPr kumimoji="1" lang="ja-JP" altLang="en-US" sz="3600" dirty="0" smtClean="0"/>
              <a:t>まともに計算したら一生かかっても終わらない</a:t>
            </a:r>
            <a:endParaRPr kumimoji="1" lang="en-US" altLang="ja-JP" sz="3600" dirty="0" smtClean="0"/>
          </a:p>
          <a:p>
            <a:pPr marL="0" indent="0">
              <a:buNone/>
            </a:pPr>
            <a:endParaRPr kumimoji="1" lang="en-US" altLang="ja-JP" sz="3600" dirty="0" smtClean="0"/>
          </a:p>
          <a:p>
            <a:pPr marL="0" indent="0">
              <a:buNone/>
            </a:pPr>
            <a:endParaRPr kumimoji="1" lang="en-US" altLang="ja-JP" sz="3600" dirty="0" smtClean="0"/>
          </a:p>
          <a:p>
            <a:pPr marL="0" indent="0">
              <a:buNone/>
            </a:pPr>
            <a:endParaRPr kumimoji="1" lang="en-US" altLang="ja-JP" sz="3600" dirty="0" smtClean="0"/>
          </a:p>
          <a:p>
            <a:pPr marL="0" indent="0" algn="ctr">
              <a:buNone/>
            </a:pPr>
            <a:r>
              <a:rPr kumimoji="1" lang="ja-JP" altLang="en-US" sz="3600" dirty="0" smtClean="0"/>
              <a:t>より高速に計算する必要がある</a:t>
            </a:r>
            <a:endParaRPr kumimoji="1" lang="ja-JP" altLang="en-US" sz="3600" dirty="0"/>
          </a:p>
        </p:txBody>
      </p:sp>
      <p:sp>
        <p:nvSpPr>
          <p:cNvPr id="4" name="下矢印 3"/>
          <p:cNvSpPr/>
          <p:nvPr/>
        </p:nvSpPr>
        <p:spPr>
          <a:xfrm>
            <a:off x="3995936" y="2924944"/>
            <a:ext cx="792088" cy="1656184"/>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20254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GPU</a:t>
            </a:r>
            <a:r>
              <a:rPr lang="ja-JP" altLang="en-US" dirty="0" smtClean="0"/>
              <a:t>とは</a:t>
            </a:r>
            <a:endParaRPr kumimoji="1" lang="ja-JP" altLang="en-US" dirty="0"/>
          </a:p>
        </p:txBody>
      </p:sp>
      <p:sp>
        <p:nvSpPr>
          <p:cNvPr id="3" name="コンテンツ プレースホルダー 2"/>
          <p:cNvSpPr>
            <a:spLocks noGrp="1"/>
          </p:cNvSpPr>
          <p:nvPr>
            <p:ph idx="1"/>
          </p:nvPr>
        </p:nvSpPr>
        <p:spPr/>
        <p:txBody>
          <a:bodyPr>
            <a:normAutofit lnSpcReduction="10000"/>
          </a:bodyPr>
          <a:lstStyle/>
          <a:p>
            <a:r>
              <a:rPr lang="ja-JP" altLang="en-US" sz="2800" dirty="0" smtClean="0"/>
              <a:t>画像処理や</a:t>
            </a:r>
            <a:r>
              <a:rPr lang="en-US" altLang="ja-JP" sz="2800" dirty="0" smtClean="0"/>
              <a:t>3D</a:t>
            </a:r>
            <a:r>
              <a:rPr lang="ja-JP" altLang="en-US" sz="2800" dirty="0" smtClean="0"/>
              <a:t>グラフィックを表示するためのプロセッサで</a:t>
            </a:r>
            <a:r>
              <a:rPr lang="ja-JP" altLang="en-US" sz="2800" dirty="0" smtClean="0"/>
              <a:t>グラフィックボードに搭載されている</a:t>
            </a:r>
            <a:endParaRPr lang="en-US" altLang="ja-JP" sz="2800" dirty="0" smtClean="0"/>
          </a:p>
          <a:p>
            <a:r>
              <a:rPr kumimoji="1" lang="ja-JP" altLang="en-US" sz="2800" dirty="0" smtClean="0"/>
              <a:t>簡素な演算ユニットを大量</a:t>
            </a:r>
            <a:endParaRPr kumimoji="1" lang="en-US" altLang="ja-JP" sz="2800" dirty="0" smtClean="0"/>
          </a:p>
          <a:p>
            <a:pPr marL="0" indent="0">
              <a:buNone/>
            </a:pPr>
            <a:r>
              <a:rPr lang="ja-JP" altLang="en-US" sz="2800" dirty="0" smtClean="0"/>
              <a:t>　</a:t>
            </a:r>
            <a:r>
              <a:rPr kumimoji="1" lang="ja-JP" altLang="en-US" sz="2800" dirty="0" smtClean="0"/>
              <a:t>に敷き詰めて高い並列性を</a:t>
            </a:r>
            <a:endParaRPr kumimoji="1" lang="en-US" altLang="ja-JP" sz="2800" dirty="0" smtClean="0"/>
          </a:p>
          <a:p>
            <a:pPr marL="0" indent="0">
              <a:buNone/>
            </a:pPr>
            <a:r>
              <a:rPr lang="ja-JP" altLang="en-US" sz="2800" dirty="0"/>
              <a:t>　</a:t>
            </a:r>
            <a:r>
              <a:rPr kumimoji="1" lang="ja-JP" altLang="en-US" sz="2800" dirty="0" smtClean="0"/>
              <a:t>持たせることによって演算</a:t>
            </a:r>
            <a:endParaRPr kumimoji="1" lang="en-US" altLang="ja-JP" sz="2800" dirty="0" smtClean="0"/>
          </a:p>
          <a:p>
            <a:pPr marL="0" indent="0">
              <a:buNone/>
            </a:pPr>
            <a:r>
              <a:rPr lang="ja-JP" altLang="en-US" sz="2800" dirty="0"/>
              <a:t>　</a:t>
            </a:r>
            <a:r>
              <a:rPr kumimoji="1" lang="ja-JP" altLang="en-US" sz="2800" dirty="0" smtClean="0"/>
              <a:t>能力を引き上げている</a:t>
            </a:r>
            <a:endParaRPr kumimoji="1" lang="en-US" altLang="ja-JP" sz="2800" dirty="0" smtClean="0"/>
          </a:p>
          <a:p>
            <a:endParaRPr lang="en-US" altLang="ja-JP" sz="2800" dirty="0"/>
          </a:p>
          <a:p>
            <a:pPr marL="0" indent="0">
              <a:buNone/>
            </a:pPr>
            <a:endParaRPr kumimoji="1" lang="en-US" altLang="ja-JP" sz="2800" dirty="0" smtClean="0"/>
          </a:p>
          <a:p>
            <a:pPr marL="0" indent="0">
              <a:buNone/>
            </a:pPr>
            <a:r>
              <a:rPr lang="ja-JP" altLang="en-US" sz="2800" dirty="0"/>
              <a:t>　</a:t>
            </a:r>
            <a:r>
              <a:rPr lang="ja-JP" altLang="en-US" sz="2800" dirty="0" smtClean="0"/>
              <a:t>　　　　　　　　　　　　　　　             </a:t>
            </a:r>
            <a:r>
              <a:rPr kumimoji="1" lang="ja-JP" altLang="en-US" sz="1600" dirty="0" smtClean="0"/>
              <a:t>グラフィックボード</a:t>
            </a:r>
            <a:r>
              <a:rPr kumimoji="1" lang="en-US" altLang="ja-JP" sz="1600" dirty="0" smtClean="0"/>
              <a:t>NVIDIA GeForce</a:t>
            </a:r>
          </a:p>
        </p:txBody>
      </p:sp>
      <p:pic>
        <p:nvPicPr>
          <p:cNvPr id="8195" name="Picture 3" descr="C:\Users\main\Dropbox\写真 2016-02-07 12 33 0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4048" y="2708920"/>
            <a:ext cx="3456200" cy="2592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1340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CUDA</a:t>
            </a:r>
            <a:r>
              <a:rPr kumimoji="1" lang="ja-JP" altLang="en-US" dirty="0" smtClean="0"/>
              <a:t>とは</a:t>
            </a:r>
            <a:endParaRPr kumimoji="1" lang="ja-JP" altLang="en-US" dirty="0"/>
          </a:p>
        </p:txBody>
      </p:sp>
      <p:sp>
        <p:nvSpPr>
          <p:cNvPr id="3" name="コンテンツ プレースホルダー 2"/>
          <p:cNvSpPr>
            <a:spLocks noGrp="1"/>
          </p:cNvSpPr>
          <p:nvPr>
            <p:ph idx="1"/>
          </p:nvPr>
        </p:nvSpPr>
        <p:spPr/>
        <p:txBody>
          <a:bodyPr/>
          <a:lstStyle/>
          <a:p>
            <a:r>
              <a:rPr kumimoji="1" lang="en-US" altLang="ja-JP" dirty="0" smtClean="0"/>
              <a:t>NVIDIA</a:t>
            </a:r>
            <a:r>
              <a:rPr kumimoji="1" lang="ja-JP" altLang="en-US" dirty="0" smtClean="0"/>
              <a:t>社が提供している</a:t>
            </a:r>
            <a:r>
              <a:rPr kumimoji="1" lang="en-US" altLang="ja-JP" dirty="0" smtClean="0"/>
              <a:t>GPU</a:t>
            </a:r>
            <a:r>
              <a:rPr lang="ja-JP" altLang="en-US" dirty="0" smtClean="0"/>
              <a:t>で汎用計算をするため</a:t>
            </a:r>
            <a:r>
              <a:rPr kumimoji="1" lang="ja-JP" altLang="en-US" dirty="0" smtClean="0"/>
              <a:t>の統合開発環境</a:t>
            </a:r>
            <a:endParaRPr kumimoji="1" lang="en-US" altLang="ja-JP" dirty="0" smtClean="0"/>
          </a:p>
          <a:p>
            <a:r>
              <a:rPr lang="ja-JP" altLang="en-US" dirty="0" smtClean="0"/>
              <a:t>ライブラリとコンパイラなどで構成されている</a:t>
            </a:r>
            <a:endParaRPr lang="en-US" altLang="ja-JP" dirty="0" smtClean="0"/>
          </a:p>
          <a:p>
            <a:r>
              <a:rPr kumimoji="1" lang="en-US" altLang="ja-JP" dirty="0" smtClean="0"/>
              <a:t>C</a:t>
            </a:r>
            <a:r>
              <a:rPr kumimoji="1" lang="ja-JP" altLang="en-US" dirty="0" smtClean="0"/>
              <a:t>言語と</a:t>
            </a:r>
            <a:r>
              <a:rPr kumimoji="1" lang="en-US" altLang="ja-JP" dirty="0" smtClean="0"/>
              <a:t>C++</a:t>
            </a:r>
            <a:r>
              <a:rPr kumimoji="1" lang="ja-JP" altLang="en-US" dirty="0" smtClean="0"/>
              <a:t>の一部の構文を使って記述可能なため高い自由度を持っている</a:t>
            </a:r>
            <a:endParaRPr kumimoji="1" lang="ja-JP" altLang="en-US" dirty="0"/>
          </a:p>
        </p:txBody>
      </p:sp>
    </p:spTree>
    <p:extLst>
      <p:ext uri="{BB962C8B-B14F-4D97-AF65-F5344CB8AC3E}">
        <p14:creationId xmlns:p14="http://schemas.microsoft.com/office/powerpoint/2010/main" val="15387544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並列処理の概念</a:t>
            </a:r>
            <a:endParaRPr kumimoji="1" lang="ja-JP" altLang="en-US" dirty="0"/>
          </a:p>
        </p:txBody>
      </p:sp>
      <p:pic>
        <p:nvPicPr>
          <p:cNvPr id="5122" name="Picture 2" descr="C:\Users\main\Desktop\並列処理.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217712"/>
            <a:ext cx="7621588" cy="544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87132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実行画面</a:t>
            </a:r>
            <a:endParaRPr lang="ja-JP" altLang="en-US" dirty="0"/>
          </a:p>
        </p:txBody>
      </p:sp>
      <p:sp>
        <p:nvSpPr>
          <p:cNvPr id="6" name="コンテンツ プレースホルダー 5"/>
          <p:cNvSpPr>
            <a:spLocks noGrp="1"/>
          </p:cNvSpPr>
          <p:nvPr>
            <p:ph idx="1"/>
          </p:nvPr>
        </p:nvSpPr>
        <p:spPr>
          <a:xfrm>
            <a:off x="457200" y="1600200"/>
            <a:ext cx="3754760" cy="4525963"/>
          </a:xfrm>
        </p:spPr>
        <p:txBody>
          <a:bodyPr>
            <a:normAutofit/>
          </a:bodyPr>
          <a:lstStyle/>
          <a:p>
            <a:r>
              <a:rPr kumimoji="1" lang="ja-JP" altLang="en-US" dirty="0" smtClean="0"/>
              <a:t>起動すると右図のような画面が表示され、マウスを使って自由に視点を変えて観察することができる</a:t>
            </a:r>
            <a:endParaRPr kumimoji="1" lang="en-US" altLang="ja-JP" dirty="0" smtClean="0"/>
          </a:p>
        </p:txBody>
      </p:sp>
      <p:pic>
        <p:nvPicPr>
          <p:cNvPr id="6146" name="Picture 2" descr="C:\Users\main\Desktop\0.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1667" y="1700808"/>
            <a:ext cx="4525800" cy="2664296"/>
          </a:xfrm>
          <a:prstGeom prst="rect">
            <a:avLst/>
          </a:prstGeom>
          <a:noFill/>
          <a:extLst>
            <a:ext uri="{909E8E84-426E-40DD-AFC4-6F175D3DCCD1}">
              <a14:hiddenFill xmlns:a14="http://schemas.microsoft.com/office/drawing/2010/main">
                <a:solidFill>
                  <a:srgbClr val="FFFFFF"/>
                </a:solidFill>
              </a14:hiddenFill>
            </a:ext>
          </a:extLst>
        </p:spPr>
      </p:pic>
      <p:sp>
        <p:nvSpPr>
          <p:cNvPr id="8" name="コンテンツ プレースホルダー 5"/>
          <p:cNvSpPr txBox="1">
            <a:spLocks/>
          </p:cNvSpPr>
          <p:nvPr/>
        </p:nvSpPr>
        <p:spPr>
          <a:xfrm>
            <a:off x="4492157" y="4509120"/>
            <a:ext cx="4244819" cy="53478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pPr marL="0" indent="0">
              <a:buNone/>
            </a:pPr>
            <a:r>
              <a:rPr lang="ja-JP" altLang="en-US" sz="1800" dirty="0" smtClean="0"/>
              <a:t>例：</a:t>
            </a:r>
            <a:r>
              <a:rPr lang="en-US" altLang="ja-JP" sz="1800" dirty="0" smtClean="0"/>
              <a:t>20480</a:t>
            </a:r>
            <a:r>
              <a:rPr lang="ja-JP" altLang="en-US" sz="1800" dirty="0" smtClean="0"/>
              <a:t>個の粒子によるシミュレーション</a:t>
            </a:r>
            <a:endParaRPr lang="ja-JP" altLang="en-US" sz="1800" dirty="0"/>
          </a:p>
        </p:txBody>
      </p:sp>
    </p:spTree>
    <p:extLst>
      <p:ext uri="{BB962C8B-B14F-4D97-AF65-F5344CB8AC3E}">
        <p14:creationId xmlns:p14="http://schemas.microsoft.com/office/powerpoint/2010/main" val="14384501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実際</a:t>
            </a:r>
            <a:r>
              <a:rPr lang="en-US" altLang="ja-JP" dirty="0" smtClean="0"/>
              <a:t>GPU</a:t>
            </a:r>
            <a:r>
              <a:rPr lang="ja-JP" altLang="en-US" dirty="0" smtClean="0"/>
              <a:t>はどれ</a:t>
            </a:r>
            <a:r>
              <a:rPr lang="ja-JP" altLang="en-US" dirty="0"/>
              <a:t>くらい速いの</a:t>
            </a:r>
            <a:r>
              <a:rPr lang="ja-JP" altLang="en-US" dirty="0" smtClean="0"/>
              <a:t>か？</a:t>
            </a:r>
            <a:endParaRPr kumimoji="1" lang="ja-JP" altLang="en-US" dirty="0"/>
          </a:p>
        </p:txBody>
      </p:sp>
      <p:sp>
        <p:nvSpPr>
          <p:cNvPr id="3" name="コンテンツ プレースホルダー 2"/>
          <p:cNvSpPr>
            <a:spLocks noGrp="1"/>
          </p:cNvSpPr>
          <p:nvPr>
            <p:ph idx="1"/>
          </p:nvPr>
        </p:nvSpPr>
        <p:spPr/>
        <p:txBody>
          <a:bodyPr/>
          <a:lstStyle/>
          <a:p>
            <a:pPr marL="0" indent="0">
              <a:buNone/>
            </a:pPr>
            <a:r>
              <a:rPr lang="en-US" altLang="ja-JP" dirty="0" smtClean="0"/>
              <a:t>CPU</a:t>
            </a:r>
            <a:r>
              <a:rPr lang="ja-JP" altLang="en-US" dirty="0"/>
              <a:t>と</a:t>
            </a:r>
            <a:r>
              <a:rPr lang="en-US" altLang="ja-JP" dirty="0"/>
              <a:t>GPU</a:t>
            </a:r>
            <a:r>
              <a:rPr lang="ja-JP" altLang="en-US" dirty="0"/>
              <a:t>の</a:t>
            </a:r>
            <a:r>
              <a:rPr lang="ja-JP" altLang="en-US" dirty="0" smtClean="0"/>
              <a:t>性能を比較</a:t>
            </a:r>
            <a:endParaRPr lang="en-US" altLang="ja-JP" dirty="0" smtClean="0"/>
          </a:p>
          <a:p>
            <a:r>
              <a:rPr lang="ja-JP" altLang="en-US" dirty="0" smtClean="0"/>
              <a:t>計測に</a:t>
            </a:r>
            <a:r>
              <a:rPr lang="ja-JP" altLang="en-US" dirty="0"/>
              <a:t>使用</a:t>
            </a:r>
            <a:r>
              <a:rPr lang="ja-JP" altLang="en-US" dirty="0" smtClean="0"/>
              <a:t>した</a:t>
            </a:r>
            <a:r>
              <a:rPr lang="en-US" altLang="ja-JP" dirty="0" smtClean="0"/>
              <a:t>CPU</a:t>
            </a:r>
            <a:r>
              <a:rPr lang="ja-JP" altLang="ja-JP" dirty="0"/>
              <a:t>は</a:t>
            </a:r>
            <a:r>
              <a:rPr lang="en-US" altLang="ja-JP" dirty="0"/>
              <a:t>Core i7 3770K</a:t>
            </a:r>
            <a:r>
              <a:rPr lang="ja-JP" altLang="ja-JP" dirty="0" err="1"/>
              <a:t>、</a:t>
            </a:r>
            <a:r>
              <a:rPr lang="en-US" altLang="ja-JP" dirty="0"/>
              <a:t>GPU</a:t>
            </a:r>
            <a:r>
              <a:rPr lang="ja-JP" altLang="ja-JP" dirty="0"/>
              <a:t>は</a:t>
            </a:r>
            <a:r>
              <a:rPr lang="en-US" altLang="ja-JP" dirty="0"/>
              <a:t>GeForce </a:t>
            </a:r>
            <a:r>
              <a:rPr lang="en-US" altLang="ja-JP" dirty="0" smtClean="0"/>
              <a:t>GTX 660ti</a:t>
            </a:r>
          </a:p>
          <a:p>
            <a:pPr marL="0" indent="0">
              <a:buNone/>
            </a:pPr>
            <a:endParaRPr kumimoji="1" lang="ja-JP" altLang="en-US" dirty="0"/>
          </a:p>
        </p:txBody>
      </p:sp>
      <p:graphicFrame>
        <p:nvGraphicFramePr>
          <p:cNvPr id="6" name="オブジェクト 5"/>
          <p:cNvGraphicFramePr>
            <a:graphicFrameLocks noChangeAspect="1"/>
          </p:cNvGraphicFramePr>
          <p:nvPr>
            <p:extLst>
              <p:ext uri="{D42A27DB-BD31-4B8C-83A1-F6EECF244321}">
                <p14:modId xmlns:p14="http://schemas.microsoft.com/office/powerpoint/2010/main" val="862066595"/>
              </p:ext>
            </p:extLst>
          </p:nvPr>
        </p:nvGraphicFramePr>
        <p:xfrm>
          <a:off x="-612576" y="3429000"/>
          <a:ext cx="9628188" cy="2708275"/>
        </p:xfrm>
        <a:graphic>
          <a:graphicData uri="http://schemas.openxmlformats.org/presentationml/2006/ole">
            <mc:AlternateContent xmlns:mc="http://schemas.openxmlformats.org/markup-compatibility/2006">
              <mc:Choice xmlns:v="urn:schemas-microsoft-com:vml" Requires="v">
                <p:oleObj spid="_x0000_s7174" name="ワークシート" r:id="rId3" imgW="9915573" imgH="2790889" progId="Excel.Sheet.12">
                  <p:embed/>
                </p:oleObj>
              </mc:Choice>
              <mc:Fallback>
                <p:oleObj name="ワークシート" r:id="rId3" imgW="9915573" imgH="2790889" progId="Excel.Sheet.12">
                  <p:embed/>
                  <p:pic>
                    <p:nvPicPr>
                      <p:cNvPr id="0" name=""/>
                      <p:cNvPicPr/>
                      <p:nvPr/>
                    </p:nvPicPr>
                    <p:blipFill>
                      <a:blip r:embed="rId4"/>
                      <a:stretch>
                        <a:fillRect/>
                      </a:stretch>
                    </p:blipFill>
                    <p:spPr>
                      <a:xfrm>
                        <a:off x="-612576" y="3429000"/>
                        <a:ext cx="9628188" cy="2708275"/>
                      </a:xfrm>
                      <a:prstGeom prst="rect">
                        <a:avLst/>
                      </a:prstGeom>
                    </p:spPr>
                  </p:pic>
                </p:oleObj>
              </mc:Fallback>
            </mc:AlternateContent>
          </a:graphicData>
        </a:graphic>
      </p:graphicFrame>
    </p:spTree>
    <p:extLst>
      <p:ext uri="{BB962C8B-B14F-4D97-AF65-F5344CB8AC3E}">
        <p14:creationId xmlns:p14="http://schemas.microsoft.com/office/powerpoint/2010/main" val="26418986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CPU</a:t>
            </a:r>
            <a:r>
              <a:rPr kumimoji="1" lang="ja-JP" altLang="en-US" dirty="0" smtClean="0"/>
              <a:t>と</a:t>
            </a:r>
            <a:r>
              <a:rPr kumimoji="1" lang="en-US" altLang="ja-JP" dirty="0" smtClean="0"/>
              <a:t>GPU</a:t>
            </a:r>
            <a:r>
              <a:rPr kumimoji="1" lang="ja-JP" altLang="en-US" dirty="0" smtClean="0"/>
              <a:t>の性能比較</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横軸を粒子数</a:t>
            </a:r>
            <a:r>
              <a:rPr kumimoji="1" lang="en-US" altLang="ja-JP" dirty="0" smtClean="0"/>
              <a:t>N</a:t>
            </a:r>
            <a:r>
              <a:rPr kumimoji="1" lang="ja-JP" altLang="en-US" dirty="0" err="1" smtClean="0"/>
              <a:t>、</a:t>
            </a:r>
            <a:r>
              <a:rPr kumimoji="1" lang="ja-JP" altLang="en-US" dirty="0" smtClean="0"/>
              <a:t>縦軸を計算にかかった時間としたとき</a:t>
            </a:r>
            <a:r>
              <a:rPr kumimoji="1" lang="en-US" altLang="ja-JP" dirty="0" smtClean="0"/>
              <a:t>GPU</a:t>
            </a:r>
            <a:r>
              <a:rPr kumimoji="1" lang="ja-JP" altLang="en-US" dirty="0" smtClean="0"/>
              <a:t>は最大</a:t>
            </a:r>
            <a:r>
              <a:rPr kumimoji="1" lang="en-US" altLang="ja-JP" dirty="0" smtClean="0"/>
              <a:t>CPU</a:t>
            </a:r>
            <a:r>
              <a:rPr kumimoji="1" lang="ja-JP" altLang="en-US" dirty="0" smtClean="0"/>
              <a:t>の</a:t>
            </a:r>
            <a:r>
              <a:rPr kumimoji="1" lang="en-US" altLang="ja-JP" dirty="0" smtClean="0"/>
              <a:t>380</a:t>
            </a:r>
            <a:r>
              <a:rPr kumimoji="1" lang="ja-JP" altLang="en-US" dirty="0" smtClean="0"/>
              <a:t>倍もの性能を発揮している。</a:t>
            </a:r>
            <a:endParaRPr kumimoji="1" lang="ja-JP" altLang="en-US" dirty="0"/>
          </a:p>
        </p:txBody>
      </p:sp>
      <p:graphicFrame>
        <p:nvGraphicFramePr>
          <p:cNvPr id="8" name="グラフ 7"/>
          <p:cNvGraphicFramePr>
            <a:graphicFrameLocks/>
          </p:cNvGraphicFramePr>
          <p:nvPr>
            <p:extLst>
              <p:ext uri="{D42A27DB-BD31-4B8C-83A1-F6EECF244321}">
                <p14:modId xmlns:p14="http://schemas.microsoft.com/office/powerpoint/2010/main" val="939899369"/>
              </p:ext>
            </p:extLst>
          </p:nvPr>
        </p:nvGraphicFramePr>
        <p:xfrm>
          <a:off x="683568" y="3212976"/>
          <a:ext cx="7848872" cy="33276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879627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GPU</a:t>
            </a:r>
            <a:r>
              <a:rPr kumimoji="1" lang="ja-JP" altLang="en-US" dirty="0" smtClean="0"/>
              <a:t>の欠点</a:t>
            </a:r>
            <a:endParaRPr kumimoji="1" lang="ja-JP" altLang="en-US" dirty="0"/>
          </a:p>
        </p:txBody>
      </p:sp>
      <p:sp>
        <p:nvSpPr>
          <p:cNvPr id="3" name="コンテンツ プレースホルダー 2"/>
          <p:cNvSpPr>
            <a:spLocks noGrp="1"/>
          </p:cNvSpPr>
          <p:nvPr>
            <p:ph idx="1"/>
          </p:nvPr>
        </p:nvSpPr>
        <p:spPr/>
        <p:txBody>
          <a:bodyPr>
            <a:normAutofit lnSpcReduction="10000"/>
          </a:bodyPr>
          <a:lstStyle/>
          <a:p>
            <a:r>
              <a:rPr kumimoji="1" lang="ja-JP" altLang="en-US" dirty="0" smtClean="0"/>
              <a:t>単精度でしか速度が出ないため精度が悪い（最新の</a:t>
            </a:r>
            <a:r>
              <a:rPr lang="en-US" altLang="ja-JP" dirty="0"/>
              <a:t>Maxwell</a:t>
            </a:r>
            <a:r>
              <a:rPr lang="ja-JP" altLang="en-US" dirty="0" smtClean="0"/>
              <a:t>アーキテクチャでは倍精度浮動小数点の演算器が搭載されていない）</a:t>
            </a:r>
            <a:endParaRPr lang="en-US" altLang="ja-JP" dirty="0" smtClean="0"/>
          </a:p>
          <a:p>
            <a:r>
              <a:rPr kumimoji="1" lang="ja-JP" altLang="en-US" dirty="0" smtClean="0"/>
              <a:t>メモリがメインメモリと共有ではないため逐一転送が必要</a:t>
            </a:r>
            <a:endParaRPr kumimoji="1" lang="en-US" altLang="ja-JP" dirty="0" smtClean="0"/>
          </a:p>
          <a:p>
            <a:r>
              <a:rPr lang="ja-JP" altLang="en-US" dirty="0" smtClean="0"/>
              <a:t>分岐処理に弱い</a:t>
            </a:r>
            <a:endParaRPr lang="en-US" altLang="ja-JP" dirty="0" smtClean="0"/>
          </a:p>
          <a:p>
            <a:endParaRPr kumimoji="1" lang="en-US" altLang="ja-JP" dirty="0"/>
          </a:p>
          <a:p>
            <a:pPr marL="0" indent="0">
              <a:buNone/>
            </a:pPr>
            <a:r>
              <a:rPr lang="ja-JP" altLang="en-US" dirty="0" smtClean="0"/>
              <a:t>これらの欠点は今後解決されたら将来的に更に応用範囲が広がる可能性がある</a:t>
            </a:r>
            <a:endParaRPr kumimoji="1" lang="ja-JP" altLang="en-US" dirty="0"/>
          </a:p>
        </p:txBody>
      </p:sp>
    </p:spTree>
    <p:extLst>
      <p:ext uri="{BB962C8B-B14F-4D97-AF65-F5344CB8AC3E}">
        <p14:creationId xmlns:p14="http://schemas.microsoft.com/office/powerpoint/2010/main" val="33695900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まとめ</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重力による粒子の運動を可視化することができた</a:t>
            </a:r>
            <a:endParaRPr kumimoji="1" lang="en-US" altLang="ja-JP" dirty="0" smtClean="0"/>
          </a:p>
          <a:p>
            <a:r>
              <a:rPr lang="en-US" altLang="ja-JP" dirty="0" smtClean="0"/>
              <a:t>GPU</a:t>
            </a:r>
            <a:r>
              <a:rPr lang="ja-JP" altLang="en-US" dirty="0" smtClean="0"/>
              <a:t>を使い大幅に処理を高速化できた</a:t>
            </a:r>
            <a:endParaRPr lang="en-US" altLang="ja-JP" dirty="0" smtClean="0"/>
          </a:p>
          <a:p>
            <a:r>
              <a:rPr lang="en-US" altLang="ja-JP" dirty="0" smtClean="0"/>
              <a:t>GPU</a:t>
            </a:r>
            <a:r>
              <a:rPr lang="ja-JP" altLang="en-US" dirty="0" smtClean="0"/>
              <a:t>に不向きな問題もあるので使えるかどうかを見極める必要がある</a:t>
            </a:r>
            <a:endParaRPr lang="en-US" altLang="ja-JP" dirty="0" smtClean="0"/>
          </a:p>
        </p:txBody>
      </p:sp>
    </p:spTree>
    <p:extLst>
      <p:ext uri="{BB962C8B-B14F-4D97-AF65-F5344CB8AC3E}">
        <p14:creationId xmlns:p14="http://schemas.microsoft.com/office/powerpoint/2010/main" val="21253787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3565</TotalTime>
  <Words>564</Words>
  <Application>Microsoft Office PowerPoint</Application>
  <PresentationFormat>画面に合わせる (4:3)</PresentationFormat>
  <Paragraphs>91</Paragraphs>
  <Slides>16</Slides>
  <Notes>0</Notes>
  <HiddenSlides>0</HiddenSlides>
  <MMClips>0</MMClips>
  <ScaleCrop>false</ScaleCrop>
  <HeadingPairs>
    <vt:vector size="6" baseType="variant">
      <vt:variant>
        <vt:lpstr>テーマ</vt:lpstr>
      </vt:variant>
      <vt:variant>
        <vt:i4>1</vt:i4>
      </vt:variant>
      <vt:variant>
        <vt:lpstr>埋め込まれた OLE サーバー</vt:lpstr>
      </vt:variant>
      <vt:variant>
        <vt:i4>1</vt:i4>
      </vt:variant>
      <vt:variant>
        <vt:lpstr>スライド タイトル</vt:lpstr>
      </vt:variant>
      <vt:variant>
        <vt:i4>16</vt:i4>
      </vt:variant>
    </vt:vector>
  </HeadingPairs>
  <TitlesOfParts>
    <vt:vector size="18" baseType="lpstr">
      <vt:lpstr>Office ​​テーマ</vt:lpstr>
      <vt:lpstr>Microsoft Excel Worksheet</vt:lpstr>
      <vt:lpstr>CUDAによるN体シミュレーションコードの開発</vt:lpstr>
      <vt:lpstr>研究目的</vt:lpstr>
      <vt:lpstr>N体シミュレーションとは</vt:lpstr>
      <vt:lpstr>N体問題の特徴</vt:lpstr>
      <vt:lpstr>PowerPoint プレゼンテーション</vt:lpstr>
      <vt:lpstr>PowerPoint プレゼンテーション</vt:lpstr>
      <vt:lpstr>PowerPoint プレゼンテーション</vt:lpstr>
      <vt:lpstr>PowerPoint プレゼンテーション</vt:lpstr>
      <vt:lpstr>GPUとは</vt:lpstr>
      <vt:lpstr>CUDAとは</vt:lpstr>
      <vt:lpstr>並列処理の概念</vt:lpstr>
      <vt:lpstr>実行画面</vt:lpstr>
      <vt:lpstr>実際GPUはどれくらい速いのか？</vt:lpstr>
      <vt:lpstr>CPUとGPUの性能比較</vt:lpstr>
      <vt:lpstr>GPUの欠点</vt:lpstr>
      <vt:lpstr>まとめ</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main</dc:creator>
  <cp:lastModifiedBy>main</cp:lastModifiedBy>
  <cp:revision>36</cp:revision>
  <dcterms:created xsi:type="dcterms:W3CDTF">2016-02-05T07:52:16Z</dcterms:created>
  <dcterms:modified xsi:type="dcterms:W3CDTF">2016-02-07T19:17:42Z</dcterms:modified>
</cp:coreProperties>
</file>